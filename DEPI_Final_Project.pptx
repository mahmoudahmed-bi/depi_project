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7"/>
  </p:notesMasterIdLst>
  <p:sldIdLst>
    <p:sldId id="261" r:id="rId5"/>
    <p:sldId id="262" r:id="rId6"/>
    <p:sldId id="270" r:id="rId7"/>
    <p:sldId id="274" r:id="rId8"/>
    <p:sldId id="273" r:id="rId9"/>
    <p:sldId id="272" r:id="rId10"/>
    <p:sldId id="271" r:id="rId11"/>
    <p:sldId id="275" r:id="rId12"/>
    <p:sldId id="276" r:id="rId13"/>
    <p:sldId id="281" r:id="rId14"/>
    <p:sldId id="277" r:id="rId15"/>
    <p:sldId id="267" r:id="rId16"/>
  </p:sldIdLst>
  <p:sldSz cx="12192000" cy="6858000"/>
  <p:notesSz cx="6858000" cy="9144000"/>
  <p:embeddedFontLst>
    <p:embeddedFont>
      <p:font typeface="Edwardian Script ITC" panose="030303020407070D0804" pitchFamily="66" charset="0"/>
      <p:regular r:id="rId18"/>
    </p:embeddedFont>
    <p:embeddedFont>
      <p:font typeface="Nobile" panose="020B0604020202020204" charset="0"/>
      <p:regular r:id="rId19"/>
    </p:embeddedFont>
    <p:embeddedFont>
      <p:font typeface="NSimSun" panose="02010609030101010101" pitchFamily="49" charset="-122"/>
      <p:regular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4"/>
        <p:cNvGrpSpPr/>
        <p:nvPr/>
      </p:nvGrpSpPr>
      <p:grpSpPr>
        <a:xfrm>
          <a:off x="0" y="0"/>
          <a:ext cx="0" cy="0"/>
          <a:chOff x="0" y="0"/>
          <a:chExt cx="0" cy="0"/>
        </a:xfrm>
      </p:grpSpPr>
      <p:sp>
        <p:nvSpPr>
          <p:cNvPr id="25" name="Google Shape;25;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5"/>
        <p:cNvGrpSpPr/>
        <p:nvPr/>
      </p:nvGrpSpPr>
      <p:grpSpPr>
        <a:xfrm>
          <a:off x="0" y="0"/>
          <a:ext cx="0" cy="0"/>
          <a:chOff x="0" y="0"/>
          <a:chExt cx="0" cy="0"/>
        </a:xfrm>
      </p:grpSpPr>
      <p:sp>
        <p:nvSpPr>
          <p:cNvPr id="36" name="Google Shape;3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40" name="Google Shape;40;p17"/>
          <p:cNvPicPr preferRelativeResize="0"/>
          <p:nvPr/>
        </p:nvPicPr>
        <p:blipFill rotWithShape="1">
          <a:blip r:embed="rId2"/>
          <a:srcRect/>
          <a:stretch>
            <a:fillRect/>
          </a:stretch>
        </p:blipFill>
        <p:spPr>
          <a:xfrm>
            <a:off x="10711512" y="330213"/>
            <a:ext cx="1284576" cy="637759"/>
          </a:xfrm>
          <a:prstGeom prst="rect">
            <a:avLst/>
          </a:prstGeom>
          <a:noFill/>
          <a:ln>
            <a:noFill/>
          </a:ln>
        </p:spPr>
      </p:pic>
      <p:pic>
        <p:nvPicPr>
          <p:cNvPr id="41" name="Google Shape;41;p17"/>
          <p:cNvPicPr preferRelativeResize="0"/>
          <p:nvPr/>
        </p:nvPicPr>
        <p:blipFill rotWithShape="1">
          <a:blip r:embed="rId3"/>
          <a:srcRect/>
          <a:stretch>
            <a:fillRect/>
          </a:stretch>
        </p:blipFill>
        <p:spPr>
          <a:xfrm>
            <a:off x="93317" y="0"/>
            <a:ext cx="1489765" cy="1386637"/>
          </a:xfrm>
          <a:prstGeom prst="rect">
            <a:avLst/>
          </a:prstGeom>
          <a:noFill/>
          <a:ln>
            <a:noFill/>
          </a:ln>
        </p:spPr>
      </p:pic>
      <p:sp>
        <p:nvSpPr>
          <p:cNvPr id="42" name="Google Shape;4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srcRect/>
          <a:stretch>
            <a:fill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srcRect/>
          <a:stretch>
            <a:fill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1" name="Google Shape;51;p18"/>
          <p:cNvPicPr preferRelativeResize="0"/>
          <p:nvPr/>
        </p:nvPicPr>
        <p:blipFill rotWithShape="1">
          <a:blip r:embed="rId4"/>
          <a:srcRect/>
          <a:stretch>
            <a:fill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4"/>
          <a:srcRect/>
          <a:stretch>
            <a:fill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5"/>
          <a:srcRect/>
          <a:stretch>
            <a:fill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pic>
        <p:nvPicPr>
          <p:cNvPr id="13" name="Google Shape;13;p13"/>
          <p:cNvPicPr preferRelativeResize="0"/>
          <p:nvPr/>
        </p:nvPicPr>
        <p:blipFill rotWithShape="1">
          <a:blip r:embed="rId16"/>
          <a:srcRect/>
          <a:stretch>
            <a:fill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2" name="Google Shape;16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64" name="Google Shape;16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lang="en-US"/>
          </a:p>
        </p:txBody>
      </p:sp>
      <p:sp>
        <p:nvSpPr>
          <p:cNvPr id="28" name="Text 0"/>
          <p:cNvSpPr/>
          <p:nvPr/>
        </p:nvSpPr>
        <p:spPr>
          <a:xfrm>
            <a:off x="476317" y="1402542"/>
            <a:ext cx="6411672" cy="733914"/>
          </a:xfrm>
          <a:prstGeom prst="rect">
            <a:avLst/>
          </a:prstGeom>
          <a:noFill/>
        </p:spPr>
        <p:txBody>
          <a:bodyPr wrap="square" lIns="0" tIns="0" rIns="0" bIns="0" rtlCol="0" anchor="t"/>
          <a:lstStyle/>
          <a:p>
            <a:pPr marL="0" indent="0">
              <a:lnSpc>
                <a:spcPts val="5550"/>
              </a:lnSpc>
              <a:buNone/>
            </a:pPr>
            <a:r>
              <a:rPr lang="en-US" altLang="en-GB" sz="4000" dirty="0"/>
              <a:t>Email Phishing Analysis and Detection</a:t>
            </a:r>
          </a:p>
        </p:txBody>
      </p:sp>
      <p:sp>
        <p:nvSpPr>
          <p:cNvPr id="29" name="Text 1"/>
          <p:cNvSpPr/>
          <p:nvPr/>
        </p:nvSpPr>
        <p:spPr>
          <a:xfrm>
            <a:off x="592428" y="3122040"/>
            <a:ext cx="2417851" cy="362903"/>
          </a:xfrm>
          <a:prstGeom prst="rect">
            <a:avLst/>
          </a:prstGeom>
          <a:noFill/>
        </p:spPr>
        <p:txBody>
          <a:bodyPr wrap="none" lIns="0" tIns="0" rIns="0" bIns="0" rtlCol="0" anchor="t"/>
          <a:lstStyle/>
          <a:p>
            <a:pPr marL="0" indent="0" algn="l">
              <a:lnSpc>
                <a:spcPts val="2850"/>
              </a:lnSpc>
              <a:buNone/>
            </a:pPr>
            <a:r>
              <a:rPr lang="en-US" sz="2000" b="1" u="sng" dirty="0">
                <a:latin typeface="Nobile" panose="020B0604020202020204" pitchFamily="34" charset="0"/>
                <a:ea typeface="Nobile" panose="020B0604020202020204" pitchFamily="34" charset="-122"/>
                <a:cs typeface="Nobile" panose="020B0604020202020204" pitchFamily="34" charset="-120"/>
              </a:rPr>
              <a:t>Presented by:</a:t>
            </a:r>
            <a:endParaRPr lang="en-US" sz="2000" b="1" u="sng" dirty="0"/>
          </a:p>
        </p:txBody>
      </p:sp>
      <p:sp>
        <p:nvSpPr>
          <p:cNvPr id="30" name="Shape 11"/>
          <p:cNvSpPr/>
          <p:nvPr>
            <p:custDataLst>
              <p:tags r:id="rId1"/>
            </p:custDataLst>
          </p:nvPr>
        </p:nvSpPr>
        <p:spPr>
          <a:xfrm>
            <a:off x="340195" y="3838019"/>
            <a:ext cx="2908032" cy="434459"/>
          </a:xfrm>
          <a:prstGeom prst="roundRect">
            <a:avLst>
              <a:gd name="adj" fmla="val 16837"/>
            </a:avLst>
          </a:prstGeom>
          <a:solidFill>
            <a:srgbClr val="FAFFFA"/>
          </a:solidFill>
          <a:ln w="30480">
            <a:solidFill>
              <a:srgbClr val="CED9CE"/>
            </a:solidFill>
            <a:prstDash val="solid"/>
          </a:ln>
        </p:spPr>
        <p:txBody>
          <a:bodyPr/>
          <a:lstStyle/>
          <a:p>
            <a:endParaRPr lang="en-US"/>
          </a:p>
        </p:txBody>
      </p:sp>
      <p:sp>
        <p:nvSpPr>
          <p:cNvPr id="31" name="Shape 12"/>
          <p:cNvSpPr/>
          <p:nvPr>
            <p:custDataLst>
              <p:tags r:id="rId2"/>
            </p:custDataLst>
          </p:nvPr>
        </p:nvSpPr>
        <p:spPr>
          <a:xfrm>
            <a:off x="309715" y="3838019"/>
            <a:ext cx="76833" cy="434459"/>
          </a:xfrm>
          <a:prstGeom prst="roundRect">
            <a:avLst>
              <a:gd name="adj" fmla="val 167442"/>
            </a:avLst>
          </a:prstGeom>
          <a:solidFill>
            <a:srgbClr val="438951"/>
          </a:solidFill>
        </p:spPr>
        <p:txBody>
          <a:bodyPr/>
          <a:lstStyle/>
          <a:p>
            <a:endParaRPr lang="en-US"/>
          </a:p>
        </p:txBody>
      </p:sp>
      <p:sp>
        <p:nvSpPr>
          <p:cNvPr id="32" name="Text 13"/>
          <p:cNvSpPr/>
          <p:nvPr>
            <p:custDataLst>
              <p:tags r:id="rId3"/>
            </p:custDataLst>
          </p:nvPr>
        </p:nvSpPr>
        <p:spPr>
          <a:xfrm>
            <a:off x="592428" y="3897764"/>
            <a:ext cx="1565768" cy="177165"/>
          </a:xfrm>
          <a:prstGeom prst="rect">
            <a:avLst/>
          </a:prstGeom>
          <a:noFill/>
        </p:spPr>
        <p:txBody>
          <a:bodyPr wrap="none" lIns="0" tIns="0" rIns="0" bIns="0" rtlCol="0" anchor="t"/>
          <a:lstStyle/>
          <a:p>
            <a:pPr marL="0" indent="0" algn="ctr">
              <a:lnSpc>
                <a:spcPts val="2750"/>
              </a:lnSpc>
              <a:buNone/>
            </a:pPr>
            <a:r>
              <a:rPr lang="ar-EG" altLang="en-US" sz="2200" dirty="0"/>
              <a:t>       </a:t>
            </a:r>
            <a:r>
              <a:rPr lang="en-US" altLang="en-GB" sz="2200" dirty="0"/>
              <a:t>Mahmoud Ahmed</a:t>
            </a:r>
          </a:p>
        </p:txBody>
      </p:sp>
      <p:sp>
        <p:nvSpPr>
          <p:cNvPr id="33" name="Shape 11"/>
          <p:cNvSpPr/>
          <p:nvPr>
            <p:custDataLst>
              <p:tags r:id="rId4"/>
            </p:custDataLst>
          </p:nvPr>
        </p:nvSpPr>
        <p:spPr>
          <a:xfrm>
            <a:off x="359245" y="4453480"/>
            <a:ext cx="2908032" cy="434459"/>
          </a:xfrm>
          <a:prstGeom prst="roundRect">
            <a:avLst>
              <a:gd name="adj" fmla="val 16837"/>
            </a:avLst>
          </a:prstGeom>
          <a:solidFill>
            <a:srgbClr val="FAFFFA"/>
          </a:solidFill>
          <a:ln w="30480">
            <a:solidFill>
              <a:srgbClr val="CED9CE"/>
            </a:solidFill>
            <a:prstDash val="solid"/>
          </a:ln>
        </p:spPr>
        <p:txBody>
          <a:bodyPr/>
          <a:lstStyle/>
          <a:p>
            <a:r>
              <a:rPr lang="en-US" altLang="en-GB" sz="2000" dirty="0"/>
              <a:t>Mohamed Ayman</a:t>
            </a:r>
            <a:endParaRPr lang="en-US" sz="2000" dirty="0"/>
          </a:p>
        </p:txBody>
      </p:sp>
      <p:sp>
        <p:nvSpPr>
          <p:cNvPr id="34" name="Shape 12"/>
          <p:cNvSpPr/>
          <p:nvPr>
            <p:custDataLst>
              <p:tags r:id="rId5"/>
            </p:custDataLst>
          </p:nvPr>
        </p:nvSpPr>
        <p:spPr>
          <a:xfrm>
            <a:off x="309715" y="4453480"/>
            <a:ext cx="76833" cy="434459"/>
          </a:xfrm>
          <a:prstGeom prst="roundRect">
            <a:avLst>
              <a:gd name="adj" fmla="val 167442"/>
            </a:avLst>
          </a:prstGeom>
          <a:solidFill>
            <a:srgbClr val="438951"/>
          </a:solidFill>
        </p:spPr>
        <p:txBody>
          <a:bodyPr/>
          <a:lstStyle/>
          <a:p>
            <a:endParaRPr lang="en-US"/>
          </a:p>
        </p:txBody>
      </p:sp>
      <p:sp>
        <p:nvSpPr>
          <p:cNvPr id="35" name="Text 13"/>
          <p:cNvSpPr/>
          <p:nvPr>
            <p:custDataLst>
              <p:tags r:id="rId6"/>
            </p:custDataLst>
          </p:nvPr>
        </p:nvSpPr>
        <p:spPr>
          <a:xfrm>
            <a:off x="386715" y="4446270"/>
            <a:ext cx="2880360" cy="441960"/>
          </a:xfrm>
          <a:prstGeom prst="rect">
            <a:avLst/>
          </a:prstGeom>
          <a:noFill/>
        </p:spPr>
        <p:txBody>
          <a:bodyPr wrap="none" lIns="0" tIns="0" rIns="0" bIns="0" rtlCol="0" anchor="t"/>
          <a:lstStyle/>
          <a:p>
            <a:pPr marL="0" indent="0" algn="ctr">
              <a:lnSpc>
                <a:spcPts val="2750"/>
              </a:lnSpc>
              <a:buNone/>
            </a:pPr>
            <a:endParaRPr lang="en-US" altLang="en-GB" sz="2200" dirty="0"/>
          </a:p>
        </p:txBody>
      </p:sp>
      <p:sp>
        <p:nvSpPr>
          <p:cNvPr id="37" name="Shape 12"/>
          <p:cNvSpPr/>
          <p:nvPr>
            <p:custDataLst>
              <p:tags r:id="rId7"/>
            </p:custDataLst>
          </p:nvPr>
        </p:nvSpPr>
        <p:spPr>
          <a:xfrm>
            <a:off x="282410" y="5656256"/>
            <a:ext cx="76833" cy="434459"/>
          </a:xfrm>
          <a:prstGeom prst="roundRect">
            <a:avLst>
              <a:gd name="adj" fmla="val 167442"/>
            </a:avLst>
          </a:prstGeom>
          <a:solidFill>
            <a:srgbClr val="438951"/>
          </a:solidFill>
        </p:spPr>
        <p:txBody>
          <a:bodyPr/>
          <a:lstStyle/>
          <a:p>
            <a:endParaRPr lang="en-US"/>
          </a:p>
        </p:txBody>
      </p:sp>
      <p:sp>
        <p:nvSpPr>
          <p:cNvPr id="38" name="Text 13"/>
          <p:cNvSpPr/>
          <p:nvPr>
            <p:custDataLst>
              <p:tags r:id="rId8"/>
            </p:custDataLst>
          </p:nvPr>
        </p:nvSpPr>
        <p:spPr>
          <a:xfrm>
            <a:off x="476250" y="5677535"/>
            <a:ext cx="2277110" cy="474980"/>
          </a:xfrm>
          <a:prstGeom prst="rect">
            <a:avLst/>
          </a:prstGeom>
          <a:noFill/>
        </p:spPr>
        <p:txBody>
          <a:bodyPr wrap="none" lIns="0" tIns="0" rIns="0" bIns="0" rtlCol="0" anchor="t"/>
          <a:lstStyle/>
          <a:p>
            <a:pPr marL="0" indent="0" algn="ctr">
              <a:lnSpc>
                <a:spcPts val="2750"/>
              </a:lnSpc>
              <a:buNone/>
            </a:pPr>
            <a:endParaRPr lang="en-US" sz="2200" dirty="0"/>
          </a:p>
        </p:txBody>
      </p:sp>
      <p:sp>
        <p:nvSpPr>
          <p:cNvPr id="39" name="Shape 11"/>
          <p:cNvSpPr/>
          <p:nvPr>
            <p:custDataLst>
              <p:tags r:id="rId9"/>
            </p:custDataLst>
          </p:nvPr>
        </p:nvSpPr>
        <p:spPr>
          <a:xfrm>
            <a:off x="3441275" y="3838019"/>
            <a:ext cx="2908032" cy="434459"/>
          </a:xfrm>
          <a:prstGeom prst="roundRect">
            <a:avLst>
              <a:gd name="adj" fmla="val 16837"/>
            </a:avLst>
          </a:prstGeom>
          <a:solidFill>
            <a:srgbClr val="FAFFFA"/>
          </a:solidFill>
          <a:ln w="30480">
            <a:solidFill>
              <a:srgbClr val="CED9CE"/>
            </a:solidFill>
            <a:prstDash val="solid"/>
          </a:ln>
        </p:spPr>
        <p:txBody>
          <a:bodyPr/>
          <a:lstStyle/>
          <a:p>
            <a:endParaRPr lang="en-US"/>
          </a:p>
        </p:txBody>
      </p:sp>
      <p:sp>
        <p:nvSpPr>
          <p:cNvPr id="40" name="Shape 12"/>
          <p:cNvSpPr/>
          <p:nvPr>
            <p:custDataLst>
              <p:tags r:id="rId10"/>
            </p:custDataLst>
          </p:nvPr>
        </p:nvSpPr>
        <p:spPr>
          <a:xfrm>
            <a:off x="3410795" y="3838019"/>
            <a:ext cx="76833" cy="434459"/>
          </a:xfrm>
          <a:prstGeom prst="roundRect">
            <a:avLst>
              <a:gd name="adj" fmla="val 167442"/>
            </a:avLst>
          </a:prstGeom>
          <a:solidFill>
            <a:srgbClr val="438951"/>
          </a:solidFill>
        </p:spPr>
        <p:txBody>
          <a:bodyPr/>
          <a:lstStyle/>
          <a:p>
            <a:endParaRPr lang="en-US"/>
          </a:p>
        </p:txBody>
      </p:sp>
      <p:sp>
        <p:nvSpPr>
          <p:cNvPr id="41" name="Text 13"/>
          <p:cNvSpPr/>
          <p:nvPr>
            <p:custDataLst>
              <p:tags r:id="rId11"/>
            </p:custDataLst>
          </p:nvPr>
        </p:nvSpPr>
        <p:spPr>
          <a:xfrm>
            <a:off x="3910818" y="3897764"/>
            <a:ext cx="1565768" cy="177165"/>
          </a:xfrm>
          <a:prstGeom prst="rect">
            <a:avLst/>
          </a:prstGeom>
          <a:noFill/>
        </p:spPr>
        <p:txBody>
          <a:bodyPr wrap="none" lIns="0" tIns="0" rIns="0" bIns="0" rtlCol="0" anchor="t"/>
          <a:lstStyle/>
          <a:p>
            <a:pPr marL="0" indent="0" algn="ctr">
              <a:lnSpc>
                <a:spcPts val="2750"/>
              </a:lnSpc>
              <a:buNone/>
            </a:pPr>
            <a:r>
              <a:rPr lang="ar-EG" altLang="en-US" sz="2100" dirty="0"/>
              <a:t>     </a:t>
            </a:r>
            <a:r>
              <a:rPr lang="en-US" altLang="en-GB" sz="2100" dirty="0"/>
              <a:t>Youssef Ahmed Fouad</a:t>
            </a:r>
            <a:endParaRPr lang="en-US" sz="2100" dirty="0"/>
          </a:p>
        </p:txBody>
      </p:sp>
      <p:sp>
        <p:nvSpPr>
          <p:cNvPr id="42" name="Shape 11"/>
          <p:cNvSpPr/>
          <p:nvPr>
            <p:custDataLst>
              <p:tags r:id="rId12"/>
            </p:custDataLst>
          </p:nvPr>
        </p:nvSpPr>
        <p:spPr>
          <a:xfrm>
            <a:off x="3441275" y="4448922"/>
            <a:ext cx="2908032" cy="434459"/>
          </a:xfrm>
          <a:prstGeom prst="roundRect">
            <a:avLst>
              <a:gd name="adj" fmla="val 16837"/>
            </a:avLst>
          </a:prstGeom>
          <a:solidFill>
            <a:srgbClr val="FAFFFA"/>
          </a:solidFill>
          <a:ln w="30480">
            <a:solidFill>
              <a:srgbClr val="CED9CE"/>
            </a:solidFill>
            <a:prstDash val="solid"/>
          </a:ln>
        </p:spPr>
        <p:txBody>
          <a:bodyPr/>
          <a:lstStyle/>
          <a:p>
            <a:endParaRPr lang="en-US"/>
          </a:p>
        </p:txBody>
      </p:sp>
      <p:sp>
        <p:nvSpPr>
          <p:cNvPr id="43" name="Shape 12"/>
          <p:cNvSpPr/>
          <p:nvPr>
            <p:custDataLst>
              <p:tags r:id="rId13"/>
            </p:custDataLst>
          </p:nvPr>
        </p:nvSpPr>
        <p:spPr>
          <a:xfrm>
            <a:off x="3410795" y="4448922"/>
            <a:ext cx="76833" cy="434459"/>
          </a:xfrm>
          <a:prstGeom prst="roundRect">
            <a:avLst>
              <a:gd name="adj" fmla="val 167442"/>
            </a:avLst>
          </a:prstGeom>
          <a:solidFill>
            <a:srgbClr val="438951"/>
          </a:solidFill>
        </p:spPr>
        <p:txBody>
          <a:bodyPr/>
          <a:lstStyle/>
          <a:p>
            <a:endParaRPr lang="en-US"/>
          </a:p>
        </p:txBody>
      </p:sp>
      <p:sp>
        <p:nvSpPr>
          <p:cNvPr id="44" name="Text 13"/>
          <p:cNvSpPr/>
          <p:nvPr>
            <p:custDataLst>
              <p:tags r:id="rId14"/>
            </p:custDataLst>
          </p:nvPr>
        </p:nvSpPr>
        <p:spPr>
          <a:xfrm>
            <a:off x="3693508" y="4515320"/>
            <a:ext cx="1565768" cy="177165"/>
          </a:xfrm>
          <a:prstGeom prst="rect">
            <a:avLst/>
          </a:prstGeom>
          <a:noFill/>
        </p:spPr>
        <p:txBody>
          <a:bodyPr wrap="none" lIns="0" tIns="0" rIns="0" bIns="0" rtlCol="0" anchor="t"/>
          <a:lstStyle/>
          <a:p>
            <a:pPr marL="0" indent="0" algn="ctr">
              <a:lnSpc>
                <a:spcPts val="2750"/>
              </a:lnSpc>
              <a:buNone/>
            </a:pPr>
            <a:r>
              <a:rPr lang="ar-EG" altLang="en-US" sz="2200" dirty="0"/>
              <a:t>          </a:t>
            </a:r>
            <a:r>
              <a:rPr lang="en-US" altLang="en-GB" sz="2200" dirty="0"/>
              <a:t>Gamal Abd Elnaser</a:t>
            </a:r>
          </a:p>
        </p:txBody>
      </p:sp>
      <p:sp>
        <p:nvSpPr>
          <p:cNvPr id="45" name="Shape 11"/>
          <p:cNvSpPr/>
          <p:nvPr>
            <p:custDataLst>
              <p:tags r:id="rId15"/>
            </p:custDataLst>
          </p:nvPr>
        </p:nvSpPr>
        <p:spPr>
          <a:xfrm>
            <a:off x="3581354" y="5682925"/>
            <a:ext cx="2879960" cy="434459"/>
          </a:xfrm>
          <a:prstGeom prst="roundRect">
            <a:avLst>
              <a:gd name="adj" fmla="val 16837"/>
            </a:avLst>
          </a:prstGeom>
          <a:solidFill>
            <a:srgbClr val="FAFFFA"/>
          </a:solidFill>
          <a:ln w="30480">
            <a:solidFill>
              <a:srgbClr val="CED9CE"/>
            </a:solidFill>
            <a:prstDash val="solid"/>
          </a:ln>
        </p:spPr>
        <p:txBody>
          <a:bodyPr/>
          <a:lstStyle/>
          <a:p>
            <a:endParaRPr lang="en-US"/>
          </a:p>
        </p:txBody>
      </p:sp>
      <p:sp>
        <p:nvSpPr>
          <p:cNvPr id="46" name="Shape 12"/>
          <p:cNvSpPr/>
          <p:nvPr>
            <p:custDataLst>
              <p:tags r:id="rId16"/>
            </p:custDataLst>
          </p:nvPr>
        </p:nvSpPr>
        <p:spPr>
          <a:xfrm>
            <a:off x="3441019" y="5705785"/>
            <a:ext cx="76833" cy="434459"/>
          </a:xfrm>
          <a:prstGeom prst="roundRect">
            <a:avLst>
              <a:gd name="adj" fmla="val 167442"/>
            </a:avLst>
          </a:prstGeom>
          <a:solidFill>
            <a:srgbClr val="438951"/>
          </a:solidFill>
        </p:spPr>
        <p:txBody>
          <a:bodyPr/>
          <a:lstStyle/>
          <a:p>
            <a:endParaRPr lang="en-US"/>
          </a:p>
        </p:txBody>
      </p:sp>
      <p:sp>
        <p:nvSpPr>
          <p:cNvPr id="47" name="Text 13"/>
          <p:cNvSpPr/>
          <p:nvPr>
            <p:custDataLst>
              <p:tags r:id="rId17"/>
            </p:custDataLst>
          </p:nvPr>
        </p:nvSpPr>
        <p:spPr>
          <a:xfrm>
            <a:off x="4114625" y="5099335"/>
            <a:ext cx="1565768" cy="177165"/>
          </a:xfrm>
          <a:prstGeom prst="rect">
            <a:avLst/>
          </a:prstGeom>
          <a:noFill/>
        </p:spPr>
        <p:txBody>
          <a:bodyPr wrap="none" lIns="0" tIns="0" rIns="0" bIns="0" rtlCol="0" anchor="t"/>
          <a:lstStyle/>
          <a:p>
            <a:pPr marL="0" indent="0" algn="ctr">
              <a:lnSpc>
                <a:spcPts val="2750"/>
              </a:lnSpc>
              <a:buNone/>
            </a:pPr>
            <a:endParaRPr lang="en-US" sz="2200" dirty="0"/>
          </a:p>
        </p:txBody>
      </p:sp>
      <p:sp>
        <p:nvSpPr>
          <p:cNvPr id="6" name="Text Box 5"/>
          <p:cNvSpPr txBox="1"/>
          <p:nvPr/>
        </p:nvSpPr>
        <p:spPr>
          <a:xfrm>
            <a:off x="476250" y="5734050"/>
            <a:ext cx="2856230" cy="398780"/>
          </a:xfrm>
          <a:prstGeom prst="rect">
            <a:avLst/>
          </a:prstGeom>
        </p:spPr>
        <p:txBody>
          <a:bodyPr wrap="square">
            <a:spAutoFit/>
          </a:bodyPr>
          <a:lstStyle/>
          <a:p>
            <a:r>
              <a:rPr lang="en-US" altLang="zh-CN" sz="2000" b="1" i="0"/>
              <a:t>Supervisorer :</a:t>
            </a:r>
            <a:r>
              <a:rPr lang="ar-EG" altLang="en-US" sz="2000" b="1" i="0"/>
              <a:t>         </a:t>
            </a:r>
          </a:p>
        </p:txBody>
      </p:sp>
      <p:sp>
        <p:nvSpPr>
          <p:cNvPr id="7" name="Text Box 6"/>
          <p:cNvSpPr txBox="1"/>
          <p:nvPr/>
        </p:nvSpPr>
        <p:spPr>
          <a:xfrm>
            <a:off x="3517900" y="5705158"/>
            <a:ext cx="5080000" cy="398780"/>
          </a:xfrm>
          <a:prstGeom prst="rect">
            <a:avLst/>
          </a:prstGeom>
        </p:spPr>
        <p:txBody>
          <a:bodyPr>
            <a:spAutoFit/>
          </a:bodyPr>
          <a:lstStyle/>
          <a:p>
            <a:r>
              <a:rPr lang="en-US" altLang="zh-CN" sz="2000" b="1" i="0"/>
              <a:t>Eng/ Noureldin Essam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73" name="Google Shape;17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lang="en-US" dirty="0"/>
          </a:p>
        </p:txBody>
      </p:sp>
      <p:sp>
        <p:nvSpPr>
          <p:cNvPr id="3" name="Text 0"/>
          <p:cNvSpPr/>
          <p:nvPr/>
        </p:nvSpPr>
        <p:spPr>
          <a:xfrm>
            <a:off x="1524000" y="952500"/>
            <a:ext cx="7658100" cy="693301"/>
          </a:xfrm>
          <a:prstGeom prst="rect">
            <a:avLst/>
          </a:prstGeom>
          <a:noFill/>
        </p:spPr>
        <p:txBody>
          <a:bodyPr wrap="none" lIns="0" tIns="0" rIns="0" bIns="0" rtlCol="0" anchor="t"/>
          <a:lstStyle/>
          <a:p>
            <a:pPr marL="0" indent="0" algn="l">
              <a:lnSpc>
                <a:spcPts val="5350"/>
              </a:lnSpc>
              <a:buNone/>
            </a:pPr>
            <a:endParaRPr lang="en-US" sz="4300" dirty="0"/>
          </a:p>
        </p:txBody>
      </p:sp>
      <p:sp>
        <p:nvSpPr>
          <p:cNvPr id="4" name="Shape 1"/>
          <p:cNvSpPr/>
          <p:nvPr/>
        </p:nvSpPr>
        <p:spPr>
          <a:xfrm>
            <a:off x="184150" y="1346200"/>
            <a:ext cx="6442075" cy="4660265"/>
          </a:xfrm>
          <a:prstGeom prst="roundRect">
            <a:avLst>
              <a:gd name="adj" fmla="val 4237"/>
            </a:avLst>
          </a:prstGeom>
          <a:solidFill>
            <a:srgbClr val="FAFFFA"/>
          </a:solidFill>
          <a:ln w="22860">
            <a:solidFill>
              <a:srgbClr val="CED9CE"/>
            </a:solidFill>
            <a:prstDash val="solid"/>
          </a:ln>
        </p:spPr>
        <p:txBody>
          <a:bodyPr/>
          <a:lstStyle/>
          <a:p>
            <a:endParaRPr lang="en-US"/>
          </a:p>
        </p:txBody>
      </p:sp>
      <p:sp>
        <p:nvSpPr>
          <p:cNvPr id="5" name="Shape 2"/>
          <p:cNvSpPr/>
          <p:nvPr/>
        </p:nvSpPr>
        <p:spPr>
          <a:xfrm>
            <a:off x="161330" y="1346060"/>
            <a:ext cx="91440" cy="2589967"/>
          </a:xfrm>
          <a:prstGeom prst="roundRect">
            <a:avLst>
              <a:gd name="adj" fmla="val 156279"/>
            </a:avLst>
          </a:prstGeom>
          <a:solidFill>
            <a:srgbClr val="438951"/>
          </a:solidFill>
        </p:spPr>
        <p:txBody>
          <a:bodyPr/>
          <a:lstStyle/>
          <a:p>
            <a:endParaRPr lang="en-US"/>
          </a:p>
        </p:txBody>
      </p:sp>
      <p:sp>
        <p:nvSpPr>
          <p:cNvPr id="6" name="Text 3"/>
          <p:cNvSpPr/>
          <p:nvPr/>
        </p:nvSpPr>
        <p:spPr>
          <a:xfrm>
            <a:off x="434340" y="1527630"/>
            <a:ext cx="4150162" cy="496133"/>
          </a:xfrm>
          <a:prstGeom prst="rect">
            <a:avLst/>
          </a:prstGeom>
          <a:noFill/>
        </p:spPr>
        <p:txBody>
          <a:bodyPr wrap="none" lIns="0" tIns="0" rIns="0" bIns="0" rtlCol="0" anchor="t"/>
          <a:lstStyle/>
          <a:p>
            <a:pPr marL="0" indent="0" algn="l">
              <a:lnSpc>
                <a:spcPts val="3900"/>
              </a:lnSpc>
              <a:buNone/>
            </a:pPr>
            <a:endParaRPr lang="en-US" sz="3100" dirty="0"/>
          </a:p>
        </p:txBody>
      </p:sp>
      <p:sp>
        <p:nvSpPr>
          <p:cNvPr id="7" name="Text 4"/>
          <p:cNvSpPr/>
          <p:nvPr/>
        </p:nvSpPr>
        <p:spPr>
          <a:xfrm>
            <a:off x="252730" y="1407795"/>
            <a:ext cx="6304280" cy="4651375"/>
          </a:xfrm>
          <a:prstGeom prst="rect">
            <a:avLst/>
          </a:prstGeom>
          <a:noFill/>
        </p:spPr>
        <p:txBody>
          <a:bodyPr wrap="square" lIns="0" tIns="0" rIns="0" bIns="0" rtlCol="0" anchor="t"/>
          <a:lstStyle/>
          <a:p>
            <a:pPr marL="342900" indent="-342900" algn="l">
              <a:lnSpc>
                <a:spcPts val="2000"/>
              </a:lnSpc>
              <a:buSzPct val="100000"/>
              <a:buChar char="•"/>
            </a:pPr>
            <a:r>
              <a:rPr lang="en-US" altLang="en-GB" sz="1600" b="1" dirty="0">
                <a:latin typeface="Arial" panose="020B0604020202020204" pitchFamily="34" charset="0"/>
                <a:ea typeface="NSimSun" panose="02010609030101010101" pitchFamily="49" charset="-122"/>
                <a:cs typeface="Arial" panose="020B0604020202020204" pitchFamily="34" charset="0"/>
              </a:rPr>
              <a:t>Phishing is a type of fraudulent activity carried out by cyber criminals whereby they send disguised e-mails to people or organisations purporting to be from reputable sources to influence the reader to click on links to dodgy websites or to give sensitive information away such as bank details, account passwords or credit card information. Phishing is a type of fraudulent activity carried out by cyber criminals whereby they send disguised e-mails to people or organisations purporting to be from reputable sources to influence the reader to click on links to dodgy websites or to give sensitive information away such as bank details, account passwords or credit card information. </a:t>
            </a:r>
          </a:p>
          <a:p>
            <a:pPr marL="342900" indent="-342900" algn="l">
              <a:lnSpc>
                <a:spcPts val="2000"/>
              </a:lnSpc>
              <a:buSzPct val="100000"/>
              <a:buChar char="•"/>
            </a:pPr>
            <a:r>
              <a:rPr lang="en-US" altLang="en-GB" sz="1600" b="1" dirty="0">
                <a:sym typeface="+mn-ea"/>
              </a:rPr>
              <a:t>Some phishing emails may contain viruses disguised as harmless attachments, which are activated when opened by the victim. The aim of this type of phishing attack could be something more specific, such as the theft of a business’s sensitive data.</a:t>
            </a:r>
            <a:r>
              <a:rPr lang="en-US" altLang="en-GB" sz="2000" b="1" dirty="0">
                <a:sym typeface="+mn-ea"/>
              </a:rPr>
              <a:t> </a:t>
            </a:r>
            <a:endParaRPr lang="en-US" altLang="en-GB" sz="2000" b="1" dirty="0"/>
          </a:p>
          <a:p>
            <a:pPr marL="342900" indent="-342900" algn="l">
              <a:lnSpc>
                <a:spcPts val="2000"/>
              </a:lnSpc>
              <a:buSzPct val="100000"/>
              <a:buChar char="•"/>
            </a:pPr>
            <a:endParaRPr lang="en-US" altLang="en-GB" sz="2000" b="1" dirty="0">
              <a:latin typeface="Arial" panose="020B0604020202020204" pitchFamily="34" charset="0"/>
              <a:ea typeface="NSimSun" panose="02010609030101010101" pitchFamily="49" charset="-122"/>
              <a:cs typeface="Arial" panose="020B0604020202020204" pitchFamily="34" charset="0"/>
            </a:endParaRPr>
          </a:p>
        </p:txBody>
      </p:sp>
      <p:sp>
        <p:nvSpPr>
          <p:cNvPr id="8" name="Text 5"/>
          <p:cNvSpPr/>
          <p:nvPr/>
        </p:nvSpPr>
        <p:spPr>
          <a:xfrm>
            <a:off x="434340" y="2682655"/>
            <a:ext cx="6010275" cy="762238"/>
          </a:xfrm>
          <a:prstGeom prst="rect">
            <a:avLst/>
          </a:prstGeom>
          <a:noFill/>
        </p:spPr>
        <p:txBody>
          <a:bodyPr wrap="square" lIns="0" tIns="0" rIns="0" bIns="0" rtlCol="0" anchor="t"/>
          <a:lstStyle/>
          <a:p>
            <a:pPr marL="342900" indent="-342900" algn="l">
              <a:lnSpc>
                <a:spcPts val="2000"/>
              </a:lnSpc>
              <a:buSzPct val="100000"/>
              <a:buChar char="•"/>
            </a:pPr>
            <a:endParaRPr lang="en-US" sz="1250" dirty="0">
              <a:latin typeface="NSimSun" panose="02010609030101010101" pitchFamily="49" charset="-122"/>
              <a:ea typeface="NSimSun" panose="02010609030101010101" pitchFamily="49" charset="-122"/>
            </a:endParaRPr>
          </a:p>
        </p:txBody>
      </p:sp>
      <p:sp>
        <p:nvSpPr>
          <p:cNvPr id="9" name="Text 6"/>
          <p:cNvSpPr/>
          <p:nvPr/>
        </p:nvSpPr>
        <p:spPr>
          <a:xfrm>
            <a:off x="434340" y="3500376"/>
            <a:ext cx="6010275" cy="254079"/>
          </a:xfrm>
          <a:prstGeom prst="rect">
            <a:avLst/>
          </a:prstGeom>
          <a:noFill/>
        </p:spPr>
        <p:txBody>
          <a:bodyPr wrap="none" lIns="0" tIns="0" rIns="0" bIns="0" rtlCol="0" anchor="t"/>
          <a:lstStyle/>
          <a:p>
            <a:pPr marL="342900" indent="-342900" algn="l">
              <a:lnSpc>
                <a:spcPts val="2000"/>
              </a:lnSpc>
              <a:buSzPct val="100000"/>
              <a:buChar char="•"/>
            </a:pPr>
            <a:endParaRPr lang="en-US" sz="1250" dirty="0">
              <a:latin typeface="NSimSun" panose="02010609030101010101" pitchFamily="49" charset="-122"/>
              <a:ea typeface="NSimSun" panose="02010609030101010101" pitchFamily="49" charset="-122"/>
            </a:endParaRPr>
          </a:p>
        </p:txBody>
      </p:sp>
      <p:sp>
        <p:nvSpPr>
          <p:cNvPr id="10" name="Shape 7"/>
          <p:cNvSpPr/>
          <p:nvPr/>
        </p:nvSpPr>
        <p:spPr>
          <a:xfrm>
            <a:off x="6807835" y="1346200"/>
            <a:ext cx="5384165" cy="4659630"/>
          </a:xfrm>
          <a:prstGeom prst="roundRect">
            <a:avLst>
              <a:gd name="adj" fmla="val 1290"/>
            </a:avLst>
          </a:prstGeom>
          <a:solidFill>
            <a:srgbClr val="FAFFFA"/>
          </a:solidFill>
          <a:ln w="22860">
            <a:solidFill>
              <a:srgbClr val="CED9CE"/>
            </a:solidFill>
            <a:prstDash val="solid"/>
          </a:ln>
        </p:spPr>
        <p:txBody>
          <a:bodyPr/>
          <a:lstStyle/>
          <a:p>
            <a:endParaRPr lang="en-US" altLang="en-GB"/>
          </a:p>
          <a:p>
            <a:r>
              <a:rPr lang="en-US" altLang="en-GB"/>
              <a:t> </a:t>
            </a:r>
            <a:endParaRPr lang="en-US"/>
          </a:p>
        </p:txBody>
      </p:sp>
      <p:sp>
        <p:nvSpPr>
          <p:cNvPr id="11" name="Shape 8"/>
          <p:cNvSpPr/>
          <p:nvPr/>
        </p:nvSpPr>
        <p:spPr>
          <a:xfrm>
            <a:off x="6807756" y="1478140"/>
            <a:ext cx="91440" cy="3052623"/>
          </a:xfrm>
          <a:prstGeom prst="roundRect">
            <a:avLst>
              <a:gd name="adj" fmla="val 156279"/>
            </a:avLst>
          </a:prstGeom>
          <a:solidFill>
            <a:srgbClr val="438951"/>
          </a:solidFill>
        </p:spPr>
        <p:txBody>
          <a:bodyPr/>
          <a:lstStyle/>
          <a:p>
            <a:endParaRPr lang="en-US"/>
          </a:p>
        </p:txBody>
      </p:sp>
      <p:sp>
        <p:nvSpPr>
          <p:cNvPr id="14" name="Text 11"/>
          <p:cNvSpPr/>
          <p:nvPr/>
        </p:nvSpPr>
        <p:spPr>
          <a:xfrm>
            <a:off x="6959600" y="1478280"/>
            <a:ext cx="5123180" cy="1640840"/>
          </a:xfrm>
          <a:prstGeom prst="rect">
            <a:avLst/>
          </a:prstGeom>
          <a:noFill/>
        </p:spPr>
        <p:txBody>
          <a:bodyPr wrap="square" lIns="0" tIns="0" rIns="0" bIns="0" rtlCol="0" anchor="t"/>
          <a:lstStyle/>
          <a:p>
            <a:pPr marL="0" indent="0" algn="l">
              <a:lnSpc>
                <a:spcPts val="2000"/>
              </a:lnSpc>
              <a:buSzPct val="100000"/>
              <a:buNone/>
            </a:pPr>
            <a:r>
              <a:rPr lang="en-US" altLang="en-GB" b="1" dirty="0"/>
              <a:t>Criminals will use multiple mediums for delivering phishing lures such as: </a:t>
            </a:r>
          </a:p>
          <a:p>
            <a:pPr marL="0" indent="0" algn="l">
              <a:lnSpc>
                <a:spcPts val="2000"/>
              </a:lnSpc>
              <a:buSzPct val="100000"/>
              <a:buNone/>
            </a:pPr>
            <a:r>
              <a:rPr lang="en-US" altLang="en-GB" b="1" dirty="0"/>
              <a:t>Email Phishing: Malicious content delivered through email. </a:t>
            </a:r>
          </a:p>
          <a:p>
            <a:pPr marL="0" indent="0" algn="l">
              <a:lnSpc>
                <a:spcPts val="2000"/>
              </a:lnSpc>
              <a:buSzPct val="100000"/>
              <a:buNone/>
            </a:pPr>
            <a:r>
              <a:rPr lang="en-US" altLang="en-GB" b="1" dirty="0"/>
              <a:t>Smishing: SMS text messages to a mobile phone. </a:t>
            </a:r>
          </a:p>
          <a:p>
            <a:pPr marL="0" indent="0" algn="l">
              <a:lnSpc>
                <a:spcPts val="2000"/>
              </a:lnSpc>
              <a:buSzPct val="100000"/>
              <a:buNone/>
            </a:pPr>
            <a:r>
              <a:rPr lang="en-US" altLang="en-GB" b="1" dirty="0"/>
              <a:t>Vishing: Fraudulent voice phone calls. </a:t>
            </a:r>
          </a:p>
          <a:p>
            <a:pPr marL="0" indent="0" algn="l">
              <a:lnSpc>
                <a:spcPts val="2000"/>
              </a:lnSpc>
              <a:buSzPct val="100000"/>
              <a:buNone/>
            </a:pPr>
            <a:endParaRPr lang="en-US" altLang="en-GB" b="1" dirty="0"/>
          </a:p>
          <a:p>
            <a:pPr marL="0" indent="0" algn="l">
              <a:lnSpc>
                <a:spcPts val="2000"/>
              </a:lnSpc>
              <a:buSzPct val="100000"/>
              <a:buNone/>
            </a:pPr>
            <a:r>
              <a:rPr lang="en-US" altLang="en-GB" b="1" dirty="0"/>
              <a:t>Each of these lures will be designed to look genuine, and the sender will usually claim to be a person or organisation that you are familiar with to make it easier for them to gain your trust. It is becoming increasingly difficult to identify these social engineering </a:t>
            </a:r>
          </a:p>
          <a:p>
            <a:pPr marL="0" indent="0" algn="l">
              <a:lnSpc>
                <a:spcPts val="2000"/>
              </a:lnSpc>
              <a:buSzPct val="100000"/>
              <a:buNone/>
            </a:pPr>
            <a:endParaRPr lang="en-US" altLang="en-GB" b="1" dirty="0"/>
          </a:p>
          <a:p>
            <a:pPr marL="0" indent="0" algn="l">
              <a:lnSpc>
                <a:spcPts val="2000"/>
              </a:lnSpc>
              <a:buSzPct val="100000"/>
              <a:buNone/>
            </a:pPr>
            <a:r>
              <a:rPr lang="en-US" altLang="en-GB" b="1" dirty="0"/>
              <a:t>attempts as attackers become more sophisticated. Attackers take advantage of people’s social instincts, such as being helpful and efficient or their emotions such as fear or anger. </a:t>
            </a:r>
            <a:endParaRPr lang="en-US" b="1" dirty="0"/>
          </a:p>
        </p:txBody>
      </p:sp>
      <p:sp>
        <p:nvSpPr>
          <p:cNvPr id="15" name="Text 12"/>
          <p:cNvSpPr/>
          <p:nvPr/>
        </p:nvSpPr>
        <p:spPr>
          <a:xfrm>
            <a:off x="7080766" y="3500377"/>
            <a:ext cx="5002089" cy="674910"/>
          </a:xfrm>
          <a:prstGeom prst="rect">
            <a:avLst/>
          </a:prstGeom>
          <a:noFill/>
        </p:spPr>
        <p:txBody>
          <a:bodyPr wrap="square" lIns="0" tIns="0" rIns="0" bIns="0" rtlCol="0" anchor="t"/>
          <a:lstStyle/>
          <a:p>
            <a:pPr marL="342900" indent="-342900" algn="l">
              <a:lnSpc>
                <a:spcPts val="2000"/>
              </a:lnSpc>
              <a:buSzPct val="100000"/>
              <a:buChar char="•"/>
            </a:pPr>
            <a:endParaRPr lang="en-US" b="1" dirty="0"/>
          </a:p>
        </p:txBody>
      </p:sp>
      <p:sp>
        <p:nvSpPr>
          <p:cNvPr id="18" name="Text 14"/>
          <p:cNvSpPr/>
          <p:nvPr/>
        </p:nvSpPr>
        <p:spPr>
          <a:xfrm>
            <a:off x="252770" y="4636918"/>
            <a:ext cx="5906333" cy="762238"/>
          </a:xfrm>
          <a:prstGeom prst="rect">
            <a:avLst/>
          </a:prstGeom>
          <a:noFill/>
        </p:spPr>
        <p:txBody>
          <a:bodyPr wrap="square" lIns="0" tIns="0" rIns="0" bIns="0" rtlCol="0" anchor="t"/>
          <a:lstStyle/>
          <a:p>
            <a:pPr marL="0" indent="0" algn="l">
              <a:lnSpc>
                <a:spcPts val="2000"/>
              </a:lnSpc>
              <a:buNone/>
            </a:pPr>
            <a:endParaRPr lang="en-US" sz="1600" dirty="0"/>
          </a:p>
        </p:txBody>
      </p:sp>
      <p:sp>
        <p:nvSpPr>
          <p:cNvPr id="22" name="Text 16"/>
          <p:cNvSpPr/>
          <p:nvPr/>
        </p:nvSpPr>
        <p:spPr>
          <a:xfrm>
            <a:off x="189667" y="5498752"/>
            <a:ext cx="5906333" cy="762238"/>
          </a:xfrm>
          <a:prstGeom prst="rect">
            <a:avLst/>
          </a:prstGeom>
          <a:noFill/>
        </p:spPr>
        <p:txBody>
          <a:bodyPr wrap="square" lIns="0" tIns="0" rIns="0" bIns="0" rtlCol="0" anchor="t"/>
          <a:lstStyle/>
          <a:p>
            <a:pPr marL="0" indent="0" algn="l">
              <a:lnSpc>
                <a:spcPts val="2000"/>
              </a:lnSpc>
              <a:buNone/>
            </a:pPr>
            <a:endParaRPr lang="en-US" sz="1400" dirty="0"/>
          </a:p>
        </p:txBody>
      </p:sp>
      <p:sp>
        <p:nvSpPr>
          <p:cNvPr id="24" name="Text 17"/>
          <p:cNvSpPr/>
          <p:nvPr/>
        </p:nvSpPr>
        <p:spPr>
          <a:xfrm>
            <a:off x="6420933" y="5511940"/>
            <a:ext cx="5906333" cy="762238"/>
          </a:xfrm>
          <a:prstGeom prst="rect">
            <a:avLst/>
          </a:prstGeom>
          <a:noFill/>
        </p:spPr>
        <p:txBody>
          <a:bodyPr wrap="square" lIns="0" tIns="0" rIns="0" bIns="0" rtlCol="0" anchor="t"/>
          <a:lstStyle/>
          <a:p>
            <a:pPr marL="0" indent="0" algn="l">
              <a:lnSpc>
                <a:spcPts val="2000"/>
              </a:lnSpc>
              <a:buNone/>
            </a:pPr>
            <a:endParaRPr lang="en-US" sz="1600" dirty="0"/>
          </a:p>
        </p:txBody>
      </p:sp>
      <p:sp>
        <p:nvSpPr>
          <p:cNvPr id="26" name="TextBox 25"/>
          <p:cNvSpPr txBox="1"/>
          <p:nvPr/>
        </p:nvSpPr>
        <p:spPr>
          <a:xfrm>
            <a:off x="1491806" y="566970"/>
            <a:ext cx="9487316" cy="777240"/>
          </a:xfrm>
          <a:prstGeom prst="rect">
            <a:avLst/>
          </a:prstGeom>
          <a:noFill/>
        </p:spPr>
        <p:txBody>
          <a:bodyPr wrap="square">
            <a:spAutoFit/>
          </a:bodyPr>
          <a:lstStyle/>
          <a:p>
            <a:pPr marL="0" indent="0" algn="l">
              <a:lnSpc>
                <a:spcPts val="5350"/>
              </a:lnSpc>
              <a:buNone/>
            </a:pPr>
            <a:r>
              <a:rPr lang="en-US" altLang="en-GB" sz="3200" dirty="0">
                <a:solidFill>
                  <a:schemeClr val="tx1"/>
                </a:solidFill>
              </a:rPr>
              <a:t>What is Phishing? </a:t>
            </a:r>
            <a:endParaRPr lang="en-US" sz="32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2" name="Google Shape;192;p9"/>
          <p:cNvSpPr txBox="1">
            <a:spLocks noGrp="1"/>
          </p:cNvSpPr>
          <p:nvPr>
            <p:ph type="dt" idx="10"/>
          </p:nvPr>
        </p:nvSpPr>
        <p:spPr>
          <a:xfrm>
            <a:off x="870741" y="6346542"/>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194" name="Google Shape;194;p9"/>
          <p:cNvSpPr txBox="1">
            <a:spLocks noGrp="1"/>
          </p:cNvSpPr>
          <p:nvPr>
            <p:ph type="sldNum" idx="12"/>
          </p:nvPr>
        </p:nvSpPr>
        <p:spPr>
          <a:xfrm>
            <a:off x="8318718" y="55363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lang="en-US"/>
          </a:p>
        </p:txBody>
      </p:sp>
      <p:sp>
        <p:nvSpPr>
          <p:cNvPr id="6" name="Text 3"/>
          <p:cNvSpPr/>
          <p:nvPr/>
        </p:nvSpPr>
        <p:spPr>
          <a:xfrm>
            <a:off x="403734" y="2285544"/>
            <a:ext cx="6853734" cy="405765"/>
          </a:xfrm>
          <a:prstGeom prst="rect">
            <a:avLst/>
          </a:prstGeom>
          <a:noFill/>
        </p:spPr>
        <p:txBody>
          <a:bodyPr wrap="square" lIns="0" tIns="0" rIns="0" bIns="0" rtlCol="0" anchor="t"/>
          <a:lstStyle/>
          <a:p>
            <a:pPr marL="342900" indent="-342900" algn="l">
              <a:lnSpc>
                <a:spcPts val="1550"/>
              </a:lnSpc>
              <a:buSzPct val="100000"/>
              <a:buChar char="•"/>
            </a:pPr>
            <a:endParaRPr lang="en-US" sz="1600" dirty="0"/>
          </a:p>
        </p:txBody>
      </p:sp>
      <p:sp>
        <p:nvSpPr>
          <p:cNvPr id="7" name="Text 4"/>
          <p:cNvSpPr/>
          <p:nvPr/>
        </p:nvSpPr>
        <p:spPr>
          <a:xfrm>
            <a:off x="403734" y="2750810"/>
            <a:ext cx="6809727" cy="405765"/>
          </a:xfrm>
          <a:prstGeom prst="rect">
            <a:avLst/>
          </a:prstGeom>
          <a:noFill/>
        </p:spPr>
        <p:txBody>
          <a:bodyPr wrap="square" lIns="0" tIns="0" rIns="0" bIns="0" rtlCol="0" anchor="t"/>
          <a:lstStyle/>
          <a:p>
            <a:pPr marL="342900" indent="-342900" algn="l">
              <a:lnSpc>
                <a:spcPts val="1550"/>
              </a:lnSpc>
              <a:buSzPct val="100000"/>
              <a:buChar char="•"/>
            </a:pPr>
            <a:endParaRPr lang="en-US" sz="1600" dirty="0"/>
          </a:p>
        </p:txBody>
      </p:sp>
      <p:sp>
        <p:nvSpPr>
          <p:cNvPr id="10" name="Text 7"/>
          <p:cNvSpPr/>
          <p:nvPr/>
        </p:nvSpPr>
        <p:spPr>
          <a:xfrm>
            <a:off x="7662413" y="1823413"/>
            <a:ext cx="6477833" cy="1984545"/>
          </a:xfrm>
          <a:prstGeom prst="rect">
            <a:avLst/>
          </a:prstGeom>
          <a:noFill/>
        </p:spPr>
        <p:txBody>
          <a:bodyPr wrap="square" lIns="0" tIns="0" rIns="0" bIns="0" rtlCol="0" anchor="t"/>
          <a:lstStyle/>
          <a:p>
            <a:pPr marL="285750" indent="-285750">
              <a:buFont typeface="Arial" panose="020B0604020202020204" pitchFamily="34" charset="0"/>
              <a:buChar char="•"/>
            </a:pPr>
            <a:endParaRPr lang="en-US" sz="1600" dirty="0"/>
          </a:p>
        </p:txBody>
      </p:sp>
      <p:sp>
        <p:nvSpPr>
          <p:cNvPr id="11" name="Text 13"/>
          <p:cNvSpPr/>
          <p:nvPr/>
        </p:nvSpPr>
        <p:spPr>
          <a:xfrm>
            <a:off x="403734" y="3796493"/>
            <a:ext cx="5288875" cy="316944"/>
          </a:xfrm>
          <a:prstGeom prst="rect">
            <a:avLst/>
          </a:prstGeom>
          <a:noFill/>
        </p:spPr>
        <p:txBody>
          <a:bodyPr wrap="none" lIns="0" tIns="0" rIns="0" bIns="0" rtlCol="0" anchor="t"/>
          <a:lstStyle/>
          <a:p>
            <a:pPr marL="0" indent="0" algn="l">
              <a:lnSpc>
                <a:spcPts val="2450"/>
              </a:lnSpc>
              <a:buNone/>
            </a:pPr>
            <a:endParaRPr lang="en-US" sz="2000" dirty="0"/>
          </a:p>
        </p:txBody>
      </p:sp>
      <p:pic>
        <p:nvPicPr>
          <p:cNvPr id="1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2280" y="4427100"/>
            <a:ext cx="171093" cy="171093"/>
          </a:xfrm>
          <a:prstGeom prst="rect">
            <a:avLst/>
          </a:prstGeom>
        </p:spPr>
      </p:pic>
      <p:sp>
        <p:nvSpPr>
          <p:cNvPr id="15" name="Text 16"/>
          <p:cNvSpPr/>
          <p:nvPr/>
        </p:nvSpPr>
        <p:spPr>
          <a:xfrm>
            <a:off x="1120110" y="4317247"/>
            <a:ext cx="5605180" cy="506968"/>
          </a:xfrm>
          <a:prstGeom prst="rect">
            <a:avLst/>
          </a:prstGeom>
          <a:noFill/>
        </p:spPr>
        <p:txBody>
          <a:bodyPr wrap="square" lIns="0" tIns="0" rIns="0" bIns="0" rtlCol="0" anchor="t"/>
          <a:lstStyle/>
          <a:p>
            <a:pPr marL="0" indent="0" algn="l">
              <a:lnSpc>
                <a:spcPts val="1950"/>
              </a:lnSpc>
              <a:buNone/>
            </a:pPr>
            <a:endParaRPr lang="en-US" sz="1600" dirty="0"/>
          </a:p>
        </p:txBody>
      </p:sp>
      <p:sp>
        <p:nvSpPr>
          <p:cNvPr id="27" name="Text 25"/>
          <p:cNvSpPr/>
          <p:nvPr/>
        </p:nvSpPr>
        <p:spPr>
          <a:xfrm>
            <a:off x="7400332" y="5223873"/>
            <a:ext cx="4791668" cy="612401"/>
          </a:xfrm>
          <a:prstGeom prst="rect">
            <a:avLst/>
          </a:prstGeom>
          <a:noFill/>
        </p:spPr>
        <p:txBody>
          <a:bodyPr wrap="square" lIns="0" tIns="0" rIns="0" bIns="0" rtlCol="0" anchor="t"/>
          <a:lstStyle/>
          <a:p>
            <a:pPr marL="0" indent="0" algn="l">
              <a:lnSpc>
                <a:spcPts val="1950"/>
              </a:lnSpc>
              <a:buNone/>
            </a:pPr>
            <a:endParaRPr lang="en-US" sz="1600" dirty="0"/>
          </a:p>
        </p:txBody>
      </p:sp>
      <p:sp>
        <p:nvSpPr>
          <p:cNvPr id="31" name="Text Box 30"/>
          <p:cNvSpPr txBox="1"/>
          <p:nvPr/>
        </p:nvSpPr>
        <p:spPr>
          <a:xfrm>
            <a:off x="622935" y="1269365"/>
            <a:ext cx="5879465" cy="4163695"/>
          </a:xfrm>
          <a:prstGeom prst="rect">
            <a:avLst/>
          </a:prstGeom>
          <a:noFill/>
        </p:spPr>
        <p:txBody>
          <a:bodyPr wrap="square" rtlCol="0">
            <a:noAutofit/>
          </a:bodyPr>
          <a:lstStyle/>
          <a:p>
            <a:r>
              <a:rPr lang="en-US" altLang="en-GB" sz="1800"/>
              <a:t>Criminals will use multiple mediums for delivering phishing lures such as: </a:t>
            </a:r>
          </a:p>
          <a:p>
            <a:r>
              <a:rPr lang="en-US" altLang="en-GB" sz="1800"/>
              <a:t>Email Phishing: Malicious content delivered through email. </a:t>
            </a:r>
          </a:p>
          <a:p>
            <a:r>
              <a:rPr lang="en-US" altLang="en-GB" sz="1800"/>
              <a:t>Smishing: SMS text messages to a mobile phone. </a:t>
            </a:r>
          </a:p>
          <a:p>
            <a:r>
              <a:rPr lang="en-US" altLang="en-GB" sz="1800"/>
              <a:t>Vishing: Fraudulent voice phone calls. </a:t>
            </a:r>
          </a:p>
          <a:p>
            <a:r>
              <a:rPr lang="en-US" altLang="en-GB" sz="1800"/>
              <a:t>Each of these lures will be designed to look genuine, and the sender will usually claim </a:t>
            </a:r>
          </a:p>
          <a:p>
            <a:r>
              <a:rPr lang="en-US" altLang="en-GB" sz="1800"/>
              <a:t>to be a person or organisation that you are familiar with to make it easier for them to </a:t>
            </a:r>
          </a:p>
          <a:p>
            <a:r>
              <a:rPr lang="en-US" altLang="en-GB" sz="1800"/>
              <a:t>gain your trust. It is becoming increasingly difficult to identify these social engineering </a:t>
            </a:r>
          </a:p>
          <a:p>
            <a:r>
              <a:rPr lang="en-US" altLang="en-GB" sz="1800"/>
              <a:t>attempts as attackers become more sophisticated. Attackers take advantage of people’s </a:t>
            </a:r>
          </a:p>
          <a:p>
            <a:r>
              <a:rPr lang="en-US" altLang="en-GB" sz="1800"/>
              <a:t>social instincts, such as being helpful and efficient or their emotions such as fear or anger</a:t>
            </a:r>
            <a:endParaRPr lang="en-GB" altLang="en-US" sz="1800"/>
          </a:p>
        </p:txBody>
      </p:sp>
      <p:pic>
        <p:nvPicPr>
          <p:cNvPr id="32" name="Picture 31"/>
          <p:cNvPicPr>
            <a:picLocks noChangeAspect="1"/>
          </p:cNvPicPr>
          <p:nvPr/>
        </p:nvPicPr>
        <p:blipFill>
          <a:blip r:embed="rId5"/>
          <a:stretch>
            <a:fillRect/>
          </a:stretch>
        </p:blipFill>
        <p:spPr>
          <a:xfrm>
            <a:off x="6385560" y="1540510"/>
            <a:ext cx="5689600" cy="3683635"/>
          </a:xfrm>
          <a:prstGeom prst="rect">
            <a:avLst/>
          </a:prstGeom>
        </p:spPr>
      </p:pic>
      <p:sp>
        <p:nvSpPr>
          <p:cNvPr id="4" name="TextBox 3">
            <a:extLst>
              <a:ext uri="{FF2B5EF4-FFF2-40B4-BE49-F238E27FC236}">
                <a16:creationId xmlns:a16="http://schemas.microsoft.com/office/drawing/2014/main" id="{696B7480-D187-B4CB-08C7-0CCDBF774A95}"/>
              </a:ext>
            </a:extLst>
          </p:cNvPr>
          <p:cNvSpPr txBox="1"/>
          <p:nvPr/>
        </p:nvSpPr>
        <p:spPr>
          <a:xfrm>
            <a:off x="11061918" y="6375215"/>
            <a:ext cx="284052" cy="307777"/>
          </a:xfrm>
          <a:prstGeom prst="rect">
            <a:avLst/>
          </a:prstGeom>
          <a:noFill/>
        </p:spPr>
        <p:txBody>
          <a:bodyPr wrap="none" rtlCol="0">
            <a:spAutoFit/>
          </a:bodyPr>
          <a:lstStyle/>
          <a:p>
            <a:r>
              <a:rPr lang="en-US" dirty="0">
                <a:solidFill>
                  <a:schemeClr val="bg1"/>
                </a:solidFil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ar-EG" altLang="en-US"/>
              <a:t>     </a:t>
            </a:r>
            <a:r>
              <a:rPr lang="en-US" altLang="en-GB"/>
              <a:t>Avoid Being Phished </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4</a:t>
            </a:fld>
            <a:endParaRPr lang="en-US"/>
          </a:p>
        </p:txBody>
      </p:sp>
      <p:sp>
        <p:nvSpPr>
          <p:cNvPr id="4" name="Text Box 3"/>
          <p:cNvSpPr txBox="1"/>
          <p:nvPr/>
        </p:nvSpPr>
        <p:spPr>
          <a:xfrm>
            <a:off x="367665" y="1435100"/>
            <a:ext cx="10833100" cy="1506855"/>
          </a:xfrm>
          <a:prstGeom prst="rect">
            <a:avLst/>
          </a:prstGeom>
        </p:spPr>
        <p:txBody>
          <a:bodyPr wrap="square">
            <a:noAutofit/>
          </a:bodyPr>
          <a:lstStyle/>
          <a:p>
            <a:r>
              <a:rPr lang="en-US" altLang="zh-CN" sz="1600"/>
              <a:t>Criminals will check the internet for peoples publicly available information to make their phishing e-mails more convincing. By thinking about what personal information you and others have about you online there are some easy steps to take to make you a less likely target for a phishing e-mail attack. </a:t>
            </a:r>
          </a:p>
        </p:txBody>
      </p:sp>
      <p:pic>
        <p:nvPicPr>
          <p:cNvPr id="5" name="Picture 4"/>
          <p:cNvPicPr/>
          <p:nvPr/>
        </p:nvPicPr>
        <p:blipFill>
          <a:blip r:embed="rId2"/>
          <a:stretch>
            <a:fillRect/>
          </a:stretch>
        </p:blipFill>
        <p:spPr>
          <a:xfrm>
            <a:off x="496570" y="2614930"/>
            <a:ext cx="542925" cy="814070"/>
          </a:xfrm>
          <a:prstGeom prst="rect">
            <a:avLst/>
          </a:prstGeom>
        </p:spPr>
      </p:pic>
      <p:pic>
        <p:nvPicPr>
          <p:cNvPr id="6" name="Picture 5"/>
          <p:cNvPicPr/>
          <p:nvPr/>
        </p:nvPicPr>
        <p:blipFill>
          <a:blip r:embed="rId3"/>
          <a:stretch>
            <a:fillRect/>
          </a:stretch>
        </p:blipFill>
        <p:spPr>
          <a:xfrm>
            <a:off x="482600" y="3778250"/>
            <a:ext cx="556895" cy="731520"/>
          </a:xfrm>
          <a:prstGeom prst="rect">
            <a:avLst/>
          </a:prstGeom>
        </p:spPr>
      </p:pic>
      <p:pic>
        <p:nvPicPr>
          <p:cNvPr id="7" name="Picture 6"/>
          <p:cNvPicPr/>
          <p:nvPr/>
        </p:nvPicPr>
        <p:blipFill>
          <a:blip r:embed="rId4"/>
          <a:stretch>
            <a:fillRect/>
          </a:stretch>
        </p:blipFill>
        <p:spPr>
          <a:xfrm>
            <a:off x="556260" y="4859020"/>
            <a:ext cx="409575" cy="848995"/>
          </a:xfrm>
          <a:prstGeom prst="rect">
            <a:avLst/>
          </a:prstGeom>
        </p:spPr>
      </p:pic>
      <p:sp>
        <p:nvSpPr>
          <p:cNvPr id="9" name="Text Box 8"/>
          <p:cNvSpPr txBox="1"/>
          <p:nvPr/>
        </p:nvSpPr>
        <p:spPr>
          <a:xfrm>
            <a:off x="1680210" y="2508885"/>
            <a:ext cx="7366635" cy="3515360"/>
          </a:xfrm>
          <a:prstGeom prst="rect">
            <a:avLst/>
          </a:prstGeom>
        </p:spPr>
        <p:txBody>
          <a:bodyPr wrap="square">
            <a:noAutofit/>
          </a:bodyPr>
          <a:lstStyle/>
          <a:p>
            <a:r>
              <a:rPr lang="en-US" altLang="zh-CN" sz="1600"/>
              <a:t>All social media platforms provide in depth privacy settings for their users. You can review these settings within your social media accounts and make sure your information isn’t publicly viewable.</a:t>
            </a:r>
          </a:p>
          <a:p>
            <a:endParaRPr lang="en-US" altLang="zh-CN" sz="1600"/>
          </a:p>
          <a:p>
            <a:endParaRPr lang="en-US" altLang="zh-CN" sz="1600"/>
          </a:p>
          <a:p>
            <a:r>
              <a:rPr lang="en-US" altLang="zh-CN" sz="1600"/>
              <a:t> It’s not only you who can post information about yourself online. Be wary of what information your family, friends or work colleagues have posted about you. If necessary, ask them to remove any information about you. </a:t>
            </a:r>
          </a:p>
          <a:p>
            <a:endParaRPr lang="en-US" altLang="zh-CN" sz="1600"/>
          </a:p>
          <a:p>
            <a:r>
              <a:rPr lang="en-US" altLang="zh-CN" sz="1600"/>
              <a:t>Make a simple checklist you can remember easily by using our giveaway phishing signs (below) to help you to quickly scan e-mails that you aren’t too sure about. If you are suspicious of an email that you have received, then report it to your IT administrator or e-mail provider and then delete the suspicious e-mail.</a:t>
            </a:r>
          </a:p>
        </p:txBody>
      </p:sp>
      <p:sp>
        <p:nvSpPr>
          <p:cNvPr id="10" name="TextBox 9">
            <a:extLst>
              <a:ext uri="{FF2B5EF4-FFF2-40B4-BE49-F238E27FC236}">
                <a16:creationId xmlns:a16="http://schemas.microsoft.com/office/drawing/2014/main" id="{29E0A981-A380-569B-17B2-61D93ABCEB67}"/>
              </a:ext>
            </a:extLst>
          </p:cNvPr>
          <p:cNvSpPr txBox="1"/>
          <p:nvPr/>
        </p:nvSpPr>
        <p:spPr>
          <a:xfrm>
            <a:off x="1680210" y="6356350"/>
            <a:ext cx="6096000" cy="307777"/>
          </a:xfrm>
          <a:prstGeom prst="rect">
            <a:avLst/>
          </a:prstGeom>
          <a:noFill/>
        </p:spPr>
        <p:txBody>
          <a:bodyPr wrap="square">
            <a:spAutoFit/>
          </a:bodyPr>
          <a:lstStyle/>
          <a:p>
            <a:r>
              <a:rPr lang="en-US" dirty="0">
                <a:solidFill>
                  <a:schemeClr val="bg1"/>
                </a:solidFill>
              </a:rPr>
              <a:t>11/30/25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3710" y="365125"/>
            <a:ext cx="10515600" cy="1325563"/>
          </a:xfrm>
        </p:spPr>
        <p:txBody>
          <a:bodyPr/>
          <a:lstStyle/>
          <a:p>
            <a:r>
              <a:rPr lang="en-US" altLang="en-GB"/>
              <a:t>Giveaway Signs of Phishing</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5</a:t>
            </a:fld>
            <a:endParaRPr lang="en-US"/>
          </a:p>
        </p:txBody>
      </p:sp>
      <p:sp>
        <p:nvSpPr>
          <p:cNvPr id="4" name="Text Box 3"/>
          <p:cNvSpPr txBox="1"/>
          <p:nvPr/>
        </p:nvSpPr>
        <p:spPr>
          <a:xfrm>
            <a:off x="702945" y="1438275"/>
            <a:ext cx="9517380" cy="1261745"/>
          </a:xfrm>
          <a:prstGeom prst="rect">
            <a:avLst/>
          </a:prstGeom>
        </p:spPr>
        <p:txBody>
          <a:bodyPr wrap="square">
            <a:noAutofit/>
          </a:bodyPr>
          <a:lstStyle/>
          <a:p>
            <a:r>
              <a:rPr lang="en-US" altLang="zh-CN" sz="1600"/>
              <a:t>As cyber criminals make their phishing e-mails more convincing to try to quickly gain your trust, always pause to consider if an e-mail makes you suspicious. You can still stay one step ahead of them by remembering to scan for one or more of these giveaway phishing signs that could signify you are being targeted by a phishing e-mail.</a:t>
            </a:r>
          </a:p>
        </p:txBody>
      </p:sp>
      <p:pic>
        <p:nvPicPr>
          <p:cNvPr id="5" name="Picture 4"/>
          <p:cNvPicPr/>
          <p:nvPr/>
        </p:nvPicPr>
        <p:blipFill>
          <a:blip r:embed="rId2"/>
          <a:stretch>
            <a:fillRect/>
          </a:stretch>
        </p:blipFill>
        <p:spPr>
          <a:xfrm>
            <a:off x="515144" y="3162300"/>
            <a:ext cx="423862" cy="533400"/>
          </a:xfrm>
          <a:prstGeom prst="rect">
            <a:avLst/>
          </a:prstGeom>
        </p:spPr>
      </p:pic>
      <p:pic>
        <p:nvPicPr>
          <p:cNvPr id="6" name="Picture 5"/>
          <p:cNvPicPr/>
          <p:nvPr/>
        </p:nvPicPr>
        <p:blipFill>
          <a:blip r:embed="rId3"/>
          <a:stretch>
            <a:fillRect/>
          </a:stretch>
        </p:blipFill>
        <p:spPr>
          <a:xfrm>
            <a:off x="429895" y="4085590"/>
            <a:ext cx="509270" cy="611505"/>
          </a:xfrm>
          <a:prstGeom prst="rect">
            <a:avLst/>
          </a:prstGeom>
        </p:spPr>
      </p:pic>
      <p:pic>
        <p:nvPicPr>
          <p:cNvPr id="7" name="Picture 6"/>
          <p:cNvPicPr/>
          <p:nvPr/>
        </p:nvPicPr>
        <p:blipFill>
          <a:blip r:embed="rId4"/>
          <a:stretch>
            <a:fillRect/>
          </a:stretch>
        </p:blipFill>
        <p:spPr>
          <a:xfrm>
            <a:off x="429895" y="5156994"/>
            <a:ext cx="438150" cy="538162"/>
          </a:xfrm>
          <a:prstGeom prst="rect">
            <a:avLst/>
          </a:prstGeom>
        </p:spPr>
      </p:pic>
      <p:sp>
        <p:nvSpPr>
          <p:cNvPr id="8" name="Text Box 7"/>
          <p:cNvSpPr txBox="1"/>
          <p:nvPr/>
        </p:nvSpPr>
        <p:spPr>
          <a:xfrm>
            <a:off x="1429385" y="2868295"/>
            <a:ext cx="8540115" cy="3291840"/>
          </a:xfrm>
          <a:prstGeom prst="rect">
            <a:avLst/>
          </a:prstGeom>
        </p:spPr>
        <p:txBody>
          <a:bodyPr wrap="square">
            <a:spAutoFit/>
          </a:bodyPr>
          <a:lstStyle/>
          <a:p>
            <a:r>
              <a:rPr lang="en-US" altLang="zh-CN" sz="1600"/>
              <a:t>Does the e-mail begin with a general or impersonal greeting such as ‘Dear Friend’ or ‘valued customer’? If you aren’t addressed by your name, then this could signal that the sender does not know you and should not have your e-mail address.</a:t>
            </a:r>
          </a:p>
          <a:p>
            <a:endParaRPr lang="en-US" altLang="zh-CN" sz="1600"/>
          </a:p>
          <a:p>
            <a:r>
              <a:rPr lang="en-US" altLang="zh-CN" sz="1600"/>
              <a:t> Check the senders email address by hovering your mouse over the ‘from’ address or clicking the down arrow beside the senders name to reveal more details about the sender. Does the name match the e-mail address and do they look legitimate? If not, the sender could be trying to impersonate somebody.</a:t>
            </a:r>
          </a:p>
          <a:p>
            <a:endParaRPr lang="en-US" altLang="zh-CN" sz="1600"/>
          </a:p>
          <a:p>
            <a:endParaRPr lang="en-US" altLang="zh-CN" sz="1600"/>
          </a:p>
          <a:p>
            <a:r>
              <a:rPr lang="en-US" altLang="zh-CN" sz="1600"/>
              <a:t> Is there a sense of urgency to the e-mail such as a request for your bank details or an action to take to avoid losing a service? Your bank or other familiar organisations will never make such requests from you in an e-mail. </a:t>
            </a:r>
          </a:p>
        </p:txBody>
      </p:sp>
      <p:sp>
        <p:nvSpPr>
          <p:cNvPr id="9" name="TextBox 8">
            <a:extLst>
              <a:ext uri="{FF2B5EF4-FFF2-40B4-BE49-F238E27FC236}">
                <a16:creationId xmlns:a16="http://schemas.microsoft.com/office/drawing/2014/main" id="{DB2A9E33-E740-C50D-ED42-AAD3698FF51E}"/>
              </a:ext>
            </a:extLst>
          </p:cNvPr>
          <p:cNvSpPr txBox="1"/>
          <p:nvPr/>
        </p:nvSpPr>
        <p:spPr>
          <a:xfrm>
            <a:off x="1680210" y="6356350"/>
            <a:ext cx="6096000" cy="307777"/>
          </a:xfrm>
          <a:prstGeom prst="rect">
            <a:avLst/>
          </a:prstGeom>
          <a:noFill/>
        </p:spPr>
        <p:txBody>
          <a:bodyPr wrap="square">
            <a:spAutoFit/>
          </a:bodyPr>
          <a:lstStyle/>
          <a:p>
            <a:r>
              <a:rPr lang="en-US" dirty="0">
                <a:solidFill>
                  <a:schemeClr val="bg1"/>
                </a:solidFill>
              </a:rPr>
              <a:t>11/30/25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6</a:t>
            </a:fld>
            <a:endParaRPr lang="en-US"/>
          </a:p>
        </p:txBody>
      </p:sp>
      <p:pic>
        <p:nvPicPr>
          <p:cNvPr id="4" name="Picture 3"/>
          <p:cNvPicPr/>
          <p:nvPr/>
        </p:nvPicPr>
        <p:blipFill>
          <a:blip r:embed="rId2"/>
          <a:stretch>
            <a:fillRect/>
          </a:stretch>
        </p:blipFill>
        <p:spPr>
          <a:xfrm>
            <a:off x="709295" y="1801495"/>
            <a:ext cx="490220" cy="748030"/>
          </a:xfrm>
          <a:prstGeom prst="rect">
            <a:avLst/>
          </a:prstGeom>
        </p:spPr>
      </p:pic>
      <p:pic>
        <p:nvPicPr>
          <p:cNvPr id="5" name="Picture 4"/>
          <p:cNvPicPr/>
          <p:nvPr/>
        </p:nvPicPr>
        <p:blipFill>
          <a:blip r:embed="rId3"/>
          <a:stretch>
            <a:fillRect/>
          </a:stretch>
        </p:blipFill>
        <p:spPr>
          <a:xfrm>
            <a:off x="675640" y="3244850"/>
            <a:ext cx="523875" cy="506730"/>
          </a:xfrm>
          <a:prstGeom prst="rect">
            <a:avLst/>
          </a:prstGeom>
        </p:spPr>
      </p:pic>
      <p:sp>
        <p:nvSpPr>
          <p:cNvPr id="6" name="Text Box 5"/>
          <p:cNvSpPr txBox="1"/>
          <p:nvPr/>
        </p:nvSpPr>
        <p:spPr>
          <a:xfrm>
            <a:off x="1607820" y="1475740"/>
            <a:ext cx="9250680" cy="2553335"/>
          </a:xfrm>
          <a:prstGeom prst="rect">
            <a:avLst/>
          </a:prstGeom>
        </p:spPr>
        <p:txBody>
          <a:bodyPr wrap="square">
            <a:spAutoFit/>
          </a:bodyPr>
          <a:lstStyle/>
          <a:p>
            <a:r>
              <a:rPr lang="en-US" altLang="zh-CN" sz="1600"/>
              <a:t>Always check password reset or authentication requests sent to you by e-mail or SMS. You should only receive these requests if you have requested a password change or attempted to authenticate through your online account. Cyber criminals can send unsolicited requests to steal your passwords, if in doubt, don’t click and report it to your account provider.</a:t>
            </a:r>
          </a:p>
          <a:p>
            <a:endParaRPr lang="en-US" altLang="zh-CN" sz="1600"/>
          </a:p>
          <a:p>
            <a:endParaRPr lang="en-US" altLang="zh-CN" sz="1600"/>
          </a:p>
          <a:p>
            <a:r>
              <a:rPr lang="en-US" altLang="zh-CN" sz="1600"/>
              <a:t> Are you being offered something for free or at a very well discounted rate? Ask yourself does this sound too good to be true? This tactic is used to panic you into thinking you might miss out on a good opportunity if you don’t follow the e-mails instructions. If it sounds too good to be true, it probably is.</a:t>
            </a:r>
          </a:p>
        </p:txBody>
      </p:sp>
      <p:sp>
        <p:nvSpPr>
          <p:cNvPr id="7" name="Text Box 6"/>
          <p:cNvSpPr txBox="1"/>
          <p:nvPr/>
        </p:nvSpPr>
        <p:spPr>
          <a:xfrm>
            <a:off x="675005" y="4408805"/>
            <a:ext cx="10077450" cy="1814830"/>
          </a:xfrm>
          <a:prstGeom prst="rect">
            <a:avLst/>
          </a:prstGeom>
        </p:spPr>
        <p:txBody>
          <a:bodyPr wrap="square">
            <a:spAutoFit/>
          </a:bodyPr>
          <a:lstStyle/>
          <a:p>
            <a:r>
              <a:rPr lang="en-US" altLang="zh-CN" sz="1600"/>
              <a:t>Some of these giveaway signs can also be present in text message scams (smishing) and fraudulent telephone voice calls (vishing). The general advice for these types of scams is as follows:</a:t>
            </a:r>
          </a:p>
          <a:p>
            <a:r>
              <a:rPr lang="en-US" altLang="zh-CN" sz="1600"/>
              <a:t> • Shortened and unrecognisable links are a sure giveaway, don’t click the bait. </a:t>
            </a:r>
          </a:p>
          <a:p>
            <a:r>
              <a:rPr lang="en-US" altLang="zh-CN" sz="1600"/>
              <a:t>• Honest communications will never ask you to provide personal details.</a:t>
            </a:r>
          </a:p>
          <a:p>
            <a:r>
              <a:rPr lang="en-US" altLang="zh-CN" sz="1600"/>
              <a:t> • If it feels too good to be true or you aren’t totally sure of something, then don’t engage. </a:t>
            </a:r>
          </a:p>
          <a:p>
            <a:r>
              <a:rPr lang="en-US" altLang="zh-CN" sz="1600"/>
              <a:t>• Contact the organisation directly using their official phone number which should be on their official website to check if they have tried to contact you.</a:t>
            </a:r>
          </a:p>
        </p:txBody>
      </p:sp>
      <p:sp>
        <p:nvSpPr>
          <p:cNvPr id="2" name="TextBox 1">
            <a:extLst>
              <a:ext uri="{FF2B5EF4-FFF2-40B4-BE49-F238E27FC236}">
                <a16:creationId xmlns:a16="http://schemas.microsoft.com/office/drawing/2014/main" id="{2214C9A3-FCE9-8C88-E4AA-6CEA7A51A9BA}"/>
              </a:ext>
            </a:extLst>
          </p:cNvPr>
          <p:cNvSpPr txBox="1"/>
          <p:nvPr/>
        </p:nvSpPr>
        <p:spPr>
          <a:xfrm>
            <a:off x="1680210" y="6356350"/>
            <a:ext cx="6096000" cy="307777"/>
          </a:xfrm>
          <a:prstGeom prst="rect">
            <a:avLst/>
          </a:prstGeom>
          <a:noFill/>
        </p:spPr>
        <p:txBody>
          <a:bodyPr wrap="square">
            <a:spAutoFit/>
          </a:bodyPr>
          <a:lstStyle/>
          <a:p>
            <a:r>
              <a:rPr lang="en-US" dirty="0">
                <a:solidFill>
                  <a:schemeClr val="bg1"/>
                </a:solidFill>
              </a:rPr>
              <a:t>11/30/25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60" y="365125"/>
            <a:ext cx="10515600" cy="1325563"/>
          </a:xfrm>
        </p:spPr>
        <p:txBody>
          <a:bodyPr/>
          <a:lstStyle/>
          <a:p>
            <a:r>
              <a:rPr lang="en-US" altLang="en-GB"/>
              <a:t>Have You Clicked the Bait?</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7</a:t>
            </a:fld>
            <a:endParaRPr lang="en-US"/>
          </a:p>
        </p:txBody>
      </p:sp>
      <p:sp>
        <p:nvSpPr>
          <p:cNvPr id="4" name="Text Box 3"/>
          <p:cNvSpPr txBox="1"/>
          <p:nvPr/>
        </p:nvSpPr>
        <p:spPr>
          <a:xfrm>
            <a:off x="1054100" y="1445895"/>
            <a:ext cx="9767570" cy="1109980"/>
          </a:xfrm>
          <a:prstGeom prst="rect">
            <a:avLst/>
          </a:prstGeom>
        </p:spPr>
        <p:txBody>
          <a:bodyPr wrap="square">
            <a:noAutofit/>
          </a:bodyPr>
          <a:lstStyle/>
          <a:p>
            <a:r>
              <a:rPr lang="en-US" altLang="zh-CN" sz="1600"/>
              <a:t>If you think you’ve been the victim of a phishing e-mail and have already clicked a link, attachment or provided sensitive information then you can still take these actions to minimise the disruptive effects of the attack.</a:t>
            </a:r>
          </a:p>
        </p:txBody>
      </p:sp>
      <p:pic>
        <p:nvPicPr>
          <p:cNvPr id="5" name="Picture 4"/>
          <p:cNvPicPr/>
          <p:nvPr/>
        </p:nvPicPr>
        <p:blipFill>
          <a:blip r:embed="rId2"/>
          <a:stretch>
            <a:fillRect/>
          </a:stretch>
        </p:blipFill>
        <p:spPr>
          <a:xfrm>
            <a:off x="715010" y="2900680"/>
            <a:ext cx="466725" cy="708025"/>
          </a:xfrm>
          <a:prstGeom prst="rect">
            <a:avLst/>
          </a:prstGeom>
        </p:spPr>
      </p:pic>
      <p:pic>
        <p:nvPicPr>
          <p:cNvPr id="6" name="Picture 5"/>
          <p:cNvPicPr/>
          <p:nvPr/>
        </p:nvPicPr>
        <p:blipFill>
          <a:blip r:embed="rId3"/>
          <a:stretch>
            <a:fillRect/>
          </a:stretch>
        </p:blipFill>
        <p:spPr>
          <a:xfrm>
            <a:off x="715010" y="4026535"/>
            <a:ext cx="466725" cy="720725"/>
          </a:xfrm>
          <a:prstGeom prst="rect">
            <a:avLst/>
          </a:prstGeom>
        </p:spPr>
      </p:pic>
      <p:pic>
        <p:nvPicPr>
          <p:cNvPr id="7" name="Picture 6"/>
          <p:cNvPicPr/>
          <p:nvPr/>
        </p:nvPicPr>
        <p:blipFill>
          <a:blip r:embed="rId4"/>
          <a:stretch>
            <a:fillRect/>
          </a:stretch>
        </p:blipFill>
        <p:spPr>
          <a:xfrm>
            <a:off x="760095" y="5003800"/>
            <a:ext cx="421640" cy="669925"/>
          </a:xfrm>
          <a:prstGeom prst="rect">
            <a:avLst/>
          </a:prstGeom>
        </p:spPr>
      </p:pic>
      <p:sp>
        <p:nvSpPr>
          <p:cNvPr id="8" name="Text Box 7"/>
          <p:cNvSpPr txBox="1"/>
          <p:nvPr/>
        </p:nvSpPr>
        <p:spPr>
          <a:xfrm>
            <a:off x="2084070" y="2900680"/>
            <a:ext cx="7707630" cy="2705735"/>
          </a:xfrm>
          <a:prstGeom prst="rect">
            <a:avLst/>
          </a:prstGeom>
        </p:spPr>
        <p:txBody>
          <a:bodyPr wrap="square">
            <a:noAutofit/>
          </a:bodyPr>
          <a:lstStyle/>
          <a:p>
            <a:r>
              <a:rPr lang="en-US" altLang="zh-CN" sz="1600"/>
              <a:t>If you have provided sensitive information such as your password or bank details then change your passwords on all your accounts and contact your bank to get advice on what you should do next.</a:t>
            </a:r>
          </a:p>
          <a:p>
            <a:endParaRPr lang="en-US" altLang="zh-CN" sz="1600"/>
          </a:p>
          <a:p>
            <a:endParaRPr lang="en-US" altLang="zh-CN" sz="1600"/>
          </a:p>
          <a:p>
            <a:r>
              <a:rPr lang="en-US" altLang="zh-CN" sz="1600"/>
              <a:t> Use an antivirus software program to run a full scan of your device so it can attempt to uncover any possible viruses and try to remove them.</a:t>
            </a:r>
          </a:p>
          <a:p>
            <a:endParaRPr lang="en-US" altLang="zh-CN" sz="1600"/>
          </a:p>
          <a:p>
            <a:endParaRPr lang="en-US" altLang="zh-CN" sz="1600"/>
          </a:p>
          <a:p>
            <a:r>
              <a:rPr lang="en-US" altLang="zh-CN" sz="1600"/>
              <a:t> If you have been victim of a fraud, then you should report this to your local Garda station.</a:t>
            </a:r>
          </a:p>
        </p:txBody>
      </p:sp>
      <p:sp>
        <p:nvSpPr>
          <p:cNvPr id="9" name="TextBox 8">
            <a:extLst>
              <a:ext uri="{FF2B5EF4-FFF2-40B4-BE49-F238E27FC236}">
                <a16:creationId xmlns:a16="http://schemas.microsoft.com/office/drawing/2014/main" id="{43367868-B021-F5F0-5D30-AFAD8D439BEE}"/>
              </a:ext>
            </a:extLst>
          </p:cNvPr>
          <p:cNvSpPr txBox="1"/>
          <p:nvPr/>
        </p:nvSpPr>
        <p:spPr>
          <a:xfrm>
            <a:off x="1680210" y="6356350"/>
            <a:ext cx="6096000" cy="307777"/>
          </a:xfrm>
          <a:prstGeom prst="rect">
            <a:avLst/>
          </a:prstGeom>
          <a:noFill/>
        </p:spPr>
        <p:txBody>
          <a:bodyPr wrap="square">
            <a:spAutoFit/>
          </a:bodyPr>
          <a:lstStyle/>
          <a:p>
            <a:r>
              <a:rPr lang="en-US" dirty="0">
                <a:solidFill>
                  <a:schemeClr val="bg1"/>
                </a:solidFill>
              </a:rPr>
              <a:t>11/30/25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5115" y="491490"/>
            <a:ext cx="10515600" cy="1325563"/>
          </a:xfrm>
        </p:spPr>
        <p:txBody>
          <a:bodyPr/>
          <a:lstStyle/>
          <a:p>
            <a:r>
              <a:rPr lang="en-US" altLang="en-GB"/>
              <a:t>Spamming</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8</a:t>
            </a:fld>
            <a:endParaRPr lang="en-US"/>
          </a:p>
        </p:txBody>
      </p:sp>
      <p:sp>
        <p:nvSpPr>
          <p:cNvPr id="4" name="Text Box 3"/>
          <p:cNvSpPr txBox="1"/>
          <p:nvPr/>
        </p:nvSpPr>
        <p:spPr>
          <a:xfrm>
            <a:off x="828675" y="1817370"/>
            <a:ext cx="9749155" cy="1735455"/>
          </a:xfrm>
          <a:prstGeom prst="rect">
            <a:avLst/>
          </a:prstGeom>
        </p:spPr>
        <p:txBody>
          <a:bodyPr wrap="square">
            <a:noAutofit/>
          </a:bodyPr>
          <a:lstStyle/>
          <a:p>
            <a:r>
              <a:rPr lang="en-US" altLang="zh-CN" sz="1600"/>
              <a:t> Spam refers to undesired emails used to distribute malicious links and attachments, cause network congestion, perform phishing and financial frauds and so on. • The spam may also consume bandwidth of the email servers causing DoS conditions. • In the example the email address doesn't match the sender name or the content of message </a:t>
            </a:r>
          </a:p>
        </p:txBody>
      </p:sp>
      <p:pic>
        <p:nvPicPr>
          <p:cNvPr id="5" name="Picture 4"/>
          <p:cNvPicPr/>
          <p:nvPr/>
        </p:nvPicPr>
        <p:blipFill>
          <a:blip r:embed="rId2"/>
          <a:stretch>
            <a:fillRect/>
          </a:stretch>
        </p:blipFill>
        <p:spPr>
          <a:xfrm>
            <a:off x="2089785" y="2984500"/>
            <a:ext cx="7759700" cy="3119755"/>
          </a:xfrm>
          <a:prstGeom prst="rect">
            <a:avLst/>
          </a:prstGeom>
        </p:spPr>
      </p:pic>
      <p:sp>
        <p:nvSpPr>
          <p:cNvPr id="6" name="TextBox 5">
            <a:extLst>
              <a:ext uri="{FF2B5EF4-FFF2-40B4-BE49-F238E27FC236}">
                <a16:creationId xmlns:a16="http://schemas.microsoft.com/office/drawing/2014/main" id="{0E1D3E38-1F47-D582-D726-0127800B6656}"/>
              </a:ext>
            </a:extLst>
          </p:cNvPr>
          <p:cNvSpPr txBox="1"/>
          <p:nvPr/>
        </p:nvSpPr>
        <p:spPr>
          <a:xfrm>
            <a:off x="1680210" y="6356350"/>
            <a:ext cx="6096000" cy="307777"/>
          </a:xfrm>
          <a:prstGeom prst="rect">
            <a:avLst/>
          </a:prstGeom>
          <a:noFill/>
        </p:spPr>
        <p:txBody>
          <a:bodyPr wrap="square">
            <a:spAutoFit/>
          </a:bodyPr>
          <a:lstStyle/>
          <a:p>
            <a:r>
              <a:rPr lang="en-US" dirty="0">
                <a:solidFill>
                  <a:schemeClr val="bg1"/>
                </a:solidFill>
              </a:rPr>
              <a:t>11/30/25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464185"/>
            <a:ext cx="10515600" cy="1325563"/>
          </a:xfrm>
        </p:spPr>
        <p:txBody>
          <a:bodyPr/>
          <a:lstStyle/>
          <a:p>
            <a:r>
              <a:rPr lang="en-US" altLang="en-GB"/>
              <a:t>How to spot spam emails </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9</a:t>
            </a:fld>
            <a:endParaRPr lang="en-US"/>
          </a:p>
        </p:txBody>
      </p:sp>
      <p:sp>
        <p:nvSpPr>
          <p:cNvPr id="4" name="Text Box 3"/>
          <p:cNvSpPr txBox="1"/>
          <p:nvPr/>
        </p:nvSpPr>
        <p:spPr>
          <a:xfrm>
            <a:off x="611505" y="1659890"/>
            <a:ext cx="8639175" cy="3650615"/>
          </a:xfrm>
          <a:prstGeom prst="rect">
            <a:avLst/>
          </a:prstGeom>
        </p:spPr>
        <p:txBody>
          <a:bodyPr wrap="square">
            <a:noAutofit/>
          </a:bodyPr>
          <a:lstStyle/>
          <a:p>
            <a:r>
              <a:rPr lang="en-US" altLang="zh-CN" sz="2000" b="1"/>
              <a:t>While some spammers are particularly adept at masking their emails, there are a few giveaways that can help recipients identify spam emails: </a:t>
            </a:r>
          </a:p>
          <a:p>
            <a:endParaRPr lang="en-US" altLang="zh-CN" sz="2000" b="1"/>
          </a:p>
          <a:p>
            <a:r>
              <a:rPr lang="en-US" altLang="zh-CN" sz="2000" b="1"/>
              <a:t>• Asking for personal information: Attackers constantly try to get information they can use out of their victims. Unless this is a request the recipient is expecting to receive, a message seeking personal information could be a sign of spam. </a:t>
            </a:r>
          </a:p>
          <a:p>
            <a:endParaRPr lang="en-US" altLang="zh-CN" sz="2000" b="1"/>
          </a:p>
          <a:p>
            <a:r>
              <a:rPr lang="en-US" altLang="zh-CN" sz="2000" b="1"/>
              <a:t>• Generic or misspelled email addresses: Sometimes spammers will claim to be someone from a recipient’s workplace but send the email from an address that is not part of the corporate domain. Or they may trick recipients by using a domain with a slight misspelling, like “Cloudfiare.com” instead of “Cloudflare.com.”</a:t>
            </a:r>
          </a:p>
        </p:txBody>
      </p:sp>
      <p:sp>
        <p:nvSpPr>
          <p:cNvPr id="5" name="TextBox 4">
            <a:extLst>
              <a:ext uri="{FF2B5EF4-FFF2-40B4-BE49-F238E27FC236}">
                <a16:creationId xmlns:a16="http://schemas.microsoft.com/office/drawing/2014/main" id="{CF2AAB71-251C-1FDC-3368-CD3296A08510}"/>
              </a:ext>
            </a:extLst>
          </p:cNvPr>
          <p:cNvSpPr txBox="1"/>
          <p:nvPr/>
        </p:nvSpPr>
        <p:spPr>
          <a:xfrm>
            <a:off x="1680210" y="6356350"/>
            <a:ext cx="6096000" cy="307777"/>
          </a:xfrm>
          <a:prstGeom prst="rect">
            <a:avLst/>
          </a:prstGeom>
          <a:noFill/>
        </p:spPr>
        <p:txBody>
          <a:bodyPr wrap="square">
            <a:spAutoFit/>
          </a:bodyPr>
          <a:lstStyle/>
          <a:p>
            <a:r>
              <a:rPr lang="en-US" dirty="0">
                <a:solidFill>
                  <a:schemeClr val="bg1"/>
                </a:solidFill>
              </a:rPr>
              <a:t>11/30/25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10</a:t>
            </a:fld>
            <a:endParaRPr lang="en-US"/>
          </a:p>
        </p:txBody>
      </p:sp>
      <p:sp>
        <p:nvSpPr>
          <p:cNvPr id="4" name="Text Box 3"/>
          <p:cNvSpPr txBox="1"/>
          <p:nvPr/>
        </p:nvSpPr>
        <p:spPr>
          <a:xfrm>
            <a:off x="819785" y="1393825"/>
            <a:ext cx="9404985" cy="4070350"/>
          </a:xfrm>
          <a:prstGeom prst="rect">
            <a:avLst/>
          </a:prstGeom>
        </p:spPr>
        <p:txBody>
          <a:bodyPr wrap="square">
            <a:noAutofit/>
          </a:bodyPr>
          <a:lstStyle/>
          <a:p>
            <a:r>
              <a:rPr lang="en-US" altLang="zh-CN" sz="2000"/>
              <a:t>•</a:t>
            </a:r>
            <a:r>
              <a:rPr lang="en-US" altLang="zh-CN" sz="2000" b="1"/>
              <a:t> Messages labeled ‘urgent’:</a:t>
            </a:r>
            <a:r>
              <a:rPr lang="en-US" altLang="zh-CN" sz="2000"/>
              <a:t> Attackers will often try to establish a sense of urgency to encourage the recipient to act quickly by incorporating phrases like “act now” or using artificial deadlines. This way, they can get the information they need before the recipient becomes suspicious. </a:t>
            </a:r>
          </a:p>
          <a:p>
            <a:endParaRPr lang="en-US" altLang="zh-CN" sz="2000"/>
          </a:p>
          <a:p>
            <a:r>
              <a:rPr lang="en-US" altLang="zh-CN" sz="2000"/>
              <a:t>• </a:t>
            </a:r>
            <a:r>
              <a:rPr lang="en-US" altLang="zh-CN" sz="2000" b="1"/>
              <a:t>Grandiose promises:</a:t>
            </a:r>
            <a:r>
              <a:rPr lang="en-US" altLang="zh-CN" sz="2000"/>
              <a:t> If an email is promising something that feels too good to be true, it probably is. Be wary of any emails telling recipients they have won or are being gifted something they did not explicitly sign up for. </a:t>
            </a:r>
          </a:p>
          <a:p>
            <a:endParaRPr lang="en-US" altLang="zh-CN" sz="2000"/>
          </a:p>
          <a:p>
            <a:r>
              <a:rPr lang="en-US" altLang="zh-CN" sz="2000"/>
              <a:t>• </a:t>
            </a:r>
            <a:r>
              <a:rPr lang="en-US" altLang="zh-CN" sz="2000" b="1"/>
              <a:t>Messages from organizations that do not generally use email: </a:t>
            </a:r>
            <a:r>
              <a:rPr lang="en-US" altLang="zh-CN" sz="2000"/>
              <a:t>Be suspicious of messages that appear to come from institutions that do not traditionally use email. For example, the IRS has stated that they do not use email to discuss debts or refunds with taxpayers.</a:t>
            </a:r>
          </a:p>
        </p:txBody>
      </p:sp>
      <p:sp>
        <p:nvSpPr>
          <p:cNvPr id="2" name="TextBox 1">
            <a:extLst>
              <a:ext uri="{FF2B5EF4-FFF2-40B4-BE49-F238E27FC236}">
                <a16:creationId xmlns:a16="http://schemas.microsoft.com/office/drawing/2014/main" id="{A5F95514-7790-841F-71AD-B3A64105762E}"/>
              </a:ext>
            </a:extLst>
          </p:cNvPr>
          <p:cNvSpPr txBox="1"/>
          <p:nvPr/>
        </p:nvSpPr>
        <p:spPr>
          <a:xfrm>
            <a:off x="1680210" y="6356350"/>
            <a:ext cx="6096000" cy="307777"/>
          </a:xfrm>
          <a:prstGeom prst="rect">
            <a:avLst/>
          </a:prstGeom>
          <a:noFill/>
        </p:spPr>
        <p:txBody>
          <a:bodyPr wrap="square">
            <a:spAutoFit/>
          </a:bodyPr>
          <a:lstStyle/>
          <a:p>
            <a:r>
              <a:rPr lang="en-US" dirty="0">
                <a:solidFill>
                  <a:schemeClr val="bg1"/>
                </a:solidFill>
              </a:rPr>
              <a:t>11/30/25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1070" y="681355"/>
            <a:ext cx="10515600" cy="1325563"/>
          </a:xfrm>
        </p:spPr>
        <p:txBody>
          <a:bodyPr/>
          <a:lstStyle/>
          <a:p>
            <a:r>
              <a:rPr lang="en-US" altLang="en-GB"/>
              <a:t>Examples of phishing </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t>11</a:t>
            </a:fld>
            <a:endParaRPr lang="en-US"/>
          </a:p>
        </p:txBody>
      </p:sp>
      <p:pic>
        <p:nvPicPr>
          <p:cNvPr id="4" name="Picture 3"/>
          <p:cNvPicPr/>
          <p:nvPr/>
        </p:nvPicPr>
        <p:blipFill>
          <a:blip r:embed="rId2"/>
          <a:stretch>
            <a:fillRect/>
          </a:stretch>
        </p:blipFill>
        <p:spPr>
          <a:xfrm>
            <a:off x="469900" y="2369820"/>
            <a:ext cx="5185410" cy="3391535"/>
          </a:xfrm>
          <a:prstGeom prst="rect">
            <a:avLst/>
          </a:prstGeom>
        </p:spPr>
      </p:pic>
      <p:pic>
        <p:nvPicPr>
          <p:cNvPr id="5" name="Picture 4"/>
          <p:cNvPicPr/>
          <p:nvPr/>
        </p:nvPicPr>
        <p:blipFill>
          <a:blip r:embed="rId3"/>
          <a:stretch>
            <a:fillRect/>
          </a:stretch>
        </p:blipFill>
        <p:spPr>
          <a:xfrm>
            <a:off x="6022340" y="2503170"/>
            <a:ext cx="5435600" cy="3418205"/>
          </a:xfrm>
          <a:prstGeom prst="rect">
            <a:avLst/>
          </a:prstGeom>
        </p:spPr>
      </p:pic>
      <p:sp>
        <p:nvSpPr>
          <p:cNvPr id="6" name="TextBox 5">
            <a:extLst>
              <a:ext uri="{FF2B5EF4-FFF2-40B4-BE49-F238E27FC236}">
                <a16:creationId xmlns:a16="http://schemas.microsoft.com/office/drawing/2014/main" id="{F7926E16-6403-408A-61E4-BE381FC9B266}"/>
              </a:ext>
            </a:extLst>
          </p:cNvPr>
          <p:cNvSpPr txBox="1"/>
          <p:nvPr/>
        </p:nvSpPr>
        <p:spPr>
          <a:xfrm>
            <a:off x="1680210" y="6356350"/>
            <a:ext cx="6096000" cy="307777"/>
          </a:xfrm>
          <a:prstGeom prst="rect">
            <a:avLst/>
          </a:prstGeom>
          <a:noFill/>
        </p:spPr>
        <p:txBody>
          <a:bodyPr wrap="square">
            <a:spAutoFit/>
          </a:bodyPr>
          <a:lstStyle/>
          <a:p>
            <a:r>
              <a:rPr lang="en-US" dirty="0">
                <a:solidFill>
                  <a:schemeClr val="bg1"/>
                </a:solidFill>
              </a:rPr>
              <a:t>11/30/25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p>
        </p:txBody>
      </p:sp>
      <p:sp>
        <p:nvSpPr>
          <p:cNvPr id="225" name="Google Shape;22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lang="en-US"/>
          </a:p>
        </p:txBody>
      </p:sp>
      <p:sp>
        <p:nvSpPr>
          <p:cNvPr id="4" name="TextBox 3"/>
          <p:cNvSpPr txBox="1"/>
          <p:nvPr/>
        </p:nvSpPr>
        <p:spPr>
          <a:xfrm>
            <a:off x="2964544" y="2190167"/>
            <a:ext cx="6096000" cy="1862048"/>
          </a:xfrm>
          <a:prstGeom prst="rect">
            <a:avLst/>
          </a:prstGeom>
          <a:noFill/>
        </p:spPr>
        <p:txBody>
          <a:bodyPr wrap="square">
            <a:spAutoFit/>
          </a:bodyPr>
          <a:lstStyle/>
          <a:p>
            <a:r>
              <a:rPr lang="en-US" sz="11500" b="1" i="0" u="none" strike="noStrike" cap="none" dirty="0">
                <a:solidFill>
                  <a:srgbClr val="0D0D0D"/>
                </a:solidFill>
                <a:latin typeface="Edwardian Script ITC" panose="030303020407070D0804" pitchFamily="66" charset="0"/>
                <a:ea typeface="Cambria Math" panose="02040503050406030204" pitchFamily="18" charset="0"/>
                <a:sym typeface="Arial" panose="020B0604020202020204"/>
              </a:rPr>
              <a:t> Thank You  </a:t>
            </a:r>
            <a:endParaRPr lang="en-US" sz="11500" dirty="0">
              <a:latin typeface="Edwardian Script ITC" panose="030303020407070D0804" pitchFamily="66" charset="0"/>
              <a:ea typeface="Cambria Math" panose="02040503050406030204" pitchFamily="18" charset="0"/>
            </a:endParaRPr>
          </a:p>
        </p:txBody>
      </p:sp>
      <p:sp>
        <p:nvSpPr>
          <p:cNvPr id="5" name="Rectangle: Rounded Corners 4"/>
          <p:cNvSpPr/>
          <p:nvPr/>
        </p:nvSpPr>
        <p:spPr>
          <a:xfrm>
            <a:off x="2964544" y="2017486"/>
            <a:ext cx="6520543" cy="2336800"/>
          </a:xfrm>
          <a:prstGeom prst="round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82.24377952755907,&quot;left&quot;:12.787007874015739,&quot;top&quot;:302.2062204724409,&quot;width&quot;:495.97787401574806}"/>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4cdc26a-4f73-4d6b-a8f1-7e8e0807979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682786AD38D194D9C7F88D0B24A5F16" ma:contentTypeVersion="6" ma:contentTypeDescription="Create a new document." ma:contentTypeScope="" ma:versionID="2193f73b26d9af38687b1e930f0df54b">
  <xsd:schema xmlns:xsd="http://www.w3.org/2001/XMLSchema" xmlns:xs="http://www.w3.org/2001/XMLSchema" xmlns:p="http://schemas.microsoft.com/office/2006/metadata/properties" xmlns:ns3="74cdc26a-4f73-4d6b-a8f1-7e8e08079793" targetNamespace="http://schemas.microsoft.com/office/2006/metadata/properties" ma:root="true" ma:fieldsID="d88aaff562cc3742419c7801bf8808ad" ns3:_="">
    <xsd:import namespace="74cdc26a-4f73-4d6b-a8f1-7e8e0807979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cdc26a-4f73-4d6b-a8f1-7e8e0807979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095B53-CED2-448A-A2F6-4855F76AF947}">
  <ds:schemaRefs/>
</ds:datastoreItem>
</file>

<file path=customXml/itemProps2.xml><?xml version="1.0" encoding="utf-8"?>
<ds:datastoreItem xmlns:ds="http://schemas.openxmlformats.org/officeDocument/2006/customXml" ds:itemID="{B3D305F2-44E2-4337-BA19-3DEE97C922F9}">
  <ds:schemaRefs/>
</ds:datastoreItem>
</file>

<file path=customXml/itemProps3.xml><?xml version="1.0" encoding="utf-8"?>
<ds:datastoreItem xmlns:ds="http://schemas.openxmlformats.org/officeDocument/2006/customXml" ds:itemID="{B3C03B13-A0B2-4EE0-888B-9354CE6FBBF5}">
  <ds:schemaRefs/>
</ds:datastoreItem>
</file>

<file path=docProps/app.xml><?xml version="1.0" encoding="utf-8"?>
<Properties xmlns="http://schemas.openxmlformats.org/officeDocument/2006/extended-properties" xmlns:vt="http://schemas.openxmlformats.org/officeDocument/2006/docPropsVTypes">
  <TotalTime>4</TotalTime>
  <Words>1569</Words>
  <Application>Microsoft Office PowerPoint</Application>
  <PresentationFormat>Widescreen</PresentationFormat>
  <Paragraphs>104</Paragraphs>
  <Slides>12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Nobile</vt:lpstr>
      <vt:lpstr>Arial</vt:lpstr>
      <vt:lpstr>NSimSun</vt:lpstr>
      <vt:lpstr>Edwardian Script ITC</vt:lpstr>
      <vt:lpstr>Calibri</vt:lpstr>
      <vt:lpstr>Office Theme</vt:lpstr>
      <vt:lpstr>PowerPoint Presentation</vt:lpstr>
      <vt:lpstr>PowerPoint Presentation</vt:lpstr>
      <vt:lpstr>PowerPoint Presentation</vt:lpstr>
      <vt:lpstr>     Avoid Being Phished </vt:lpstr>
      <vt:lpstr>Giveaway Signs of Phishing</vt:lpstr>
      <vt:lpstr>PowerPoint Presentation</vt:lpstr>
      <vt:lpstr>Have You Clicked the Bait?</vt:lpstr>
      <vt:lpstr>Spamming</vt:lpstr>
      <vt:lpstr>How to spot spam emails </vt:lpstr>
      <vt:lpstr>PowerPoint Presentation</vt:lpstr>
      <vt:lpstr>Examples of phishing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dc:creator>
  <cp:lastModifiedBy>Mahmoud Ahmed Mahmoud</cp:lastModifiedBy>
  <cp:revision>9</cp:revision>
  <dcterms:created xsi:type="dcterms:W3CDTF">2024-03-14T10:03:00Z</dcterms:created>
  <dcterms:modified xsi:type="dcterms:W3CDTF">2025-12-08T17:26:49Z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0x0101006682786AD38D194D9C7F88D0B24A5F16</vt:lpwstr>
  </property>
  <property fmtid="{D5CDD505-2E9C-101B-9397-08002B2CF9AE}" pid="3" name="ICV">
    <vt:lpwstr>B40419AF3EF54D68875EB7AD69DD9C73_13</vt:lpwstr>
  </property>
  <property fmtid="{D5CDD505-2E9C-101B-9397-08002B2CF9AE}" pid="4" name="KSOProductBuildVer">
    <vt:lpwstr>2057-12.2.0.23158</vt:lpwstr>
  </property>
</Properties>
</file>